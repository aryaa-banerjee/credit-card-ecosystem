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66" r:id="rId4"/>
    <p:sldId id="258" r:id="rId5"/>
    <p:sldId id="259" r:id="rId6"/>
    <p:sldId id="271" r:id="rId7"/>
    <p:sldId id="269" r:id="rId8"/>
    <p:sldId id="260" r:id="rId9"/>
    <p:sldId id="262" r:id="rId10"/>
    <p:sldId id="268" r:id="rId11"/>
    <p:sldId id="263"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45" autoAdjust="0"/>
  </p:normalViewPr>
  <p:slideViewPr>
    <p:cSldViewPr snapToGrid="0">
      <p:cViewPr varScale="1">
        <p:scale>
          <a:sx n="83" d="100"/>
          <a:sy n="83" d="100"/>
        </p:scale>
        <p:origin x="82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papers%20please\user%20count%20comparis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ENOVO\Desktop\paper%20presentation\work1.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ENOVO\Desktop\paper%20presentation\ecom%20data-combin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papers%20please\user%20count%20comparison.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papers%20please\work1.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ENOVO\Desktop\paper%20presentation\ecom%20data-combined.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Desktop\papers%20please\work1.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LENOVO\Desktop\paper%20presentation\ecom%20data-combined.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r>
              <a:rPr lang="en-US" dirty="0"/>
              <a:t>No. of Credit Cards Issued (in crores)</a:t>
            </a:r>
          </a:p>
        </c:rich>
      </c:tx>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lineChart>
        <c:grouping val="standard"/>
        <c:varyColors val="0"/>
        <c:ser>
          <c:idx val="0"/>
          <c:order val="0"/>
          <c:tx>
            <c:strRef>
              <c:f>refined!$K$2</c:f>
              <c:strCache>
                <c:ptCount val="1"/>
                <c:pt idx="0">
                  <c:v>Credit Cards (crores)</c:v>
                </c:pt>
              </c:strCache>
            </c:strRef>
          </c:tx>
          <c:spPr>
            <a:ln w="22225" cap="rnd">
              <a:solidFill>
                <a:schemeClr val="accent1"/>
              </a:solidFill>
              <a:round/>
            </a:ln>
            <a:effectLst/>
          </c:spPr>
          <c:marker>
            <c:symbol val="circle"/>
            <c:size val="6"/>
            <c:spPr>
              <a:solidFill>
                <a:schemeClr val="lt1"/>
              </a:solidFill>
              <a:ln w="15875">
                <a:solidFill>
                  <a:schemeClr val="accent1"/>
                </a:solidFill>
                <a:round/>
              </a:ln>
              <a:effectLst/>
            </c:spPr>
          </c:marker>
          <c:cat>
            <c:numRef>
              <c:f>refined!$J$3:$J$17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refined!$K$3:$K$17</c:f>
              <c:numCache>
                <c:formatCode>General</c:formatCode>
                <c:ptCount val="15"/>
                <c:pt idx="0">
                  <c:v>1.7646842643333334</c:v>
                </c:pt>
                <c:pt idx="1">
                  <c:v>1.8152748000000001</c:v>
                </c:pt>
                <c:pt idx="2">
                  <c:v>1.8782297999999999</c:v>
                </c:pt>
                <c:pt idx="3">
                  <c:v>1.9613711</c:v>
                </c:pt>
                <c:pt idx="4">
                  <c:v>2.1948568000000002</c:v>
                </c:pt>
                <c:pt idx="5">
                  <c:v>2.5943793999999998</c:v>
                </c:pt>
                <c:pt idx="6">
                  <c:v>3.2056928999999998</c:v>
                </c:pt>
                <c:pt idx="7">
                  <c:v>4.0166012999999996</c:v>
                </c:pt>
                <c:pt idx="8">
                  <c:v>5.0263910999999997</c:v>
                </c:pt>
                <c:pt idx="9">
                  <c:v>5.7632047000000002</c:v>
                </c:pt>
                <c:pt idx="10">
                  <c:v>6.3414463000000003</c:v>
                </c:pt>
                <c:pt idx="11">
                  <c:v>8.0255721999999992</c:v>
                </c:pt>
                <c:pt idx="12">
                  <c:v>8.9873250999999996</c:v>
                </c:pt>
                <c:pt idx="13">
                  <c:v>10.4568437</c:v>
                </c:pt>
                <c:pt idx="14">
                  <c:v>11.1622772</c:v>
                </c:pt>
              </c:numCache>
            </c:numRef>
          </c:val>
          <c:smooth val="0"/>
          <c:extLst>
            <c:ext xmlns:c16="http://schemas.microsoft.com/office/drawing/2014/chart" uri="{C3380CC4-5D6E-409C-BE32-E72D297353CC}">
              <c16:uniqueId val="{00000000-C02B-4166-A018-44616F1DB8CD}"/>
            </c:ext>
          </c:extLst>
        </c:ser>
        <c:dLbls>
          <c:showLegendKey val="0"/>
          <c:showVal val="0"/>
          <c:showCatName val="0"/>
          <c:showSerName val="0"/>
          <c:showPercent val="0"/>
          <c:showBubbleSize val="0"/>
        </c:dLbls>
        <c:marker val="1"/>
        <c:smooth val="0"/>
        <c:axId val="539661360"/>
        <c:axId val="539666352"/>
      </c:lineChart>
      <c:catAx>
        <c:axId val="539661360"/>
        <c:scaling>
          <c:orientation val="minMax"/>
        </c:scaling>
        <c:delete val="0"/>
        <c:axPos val="b"/>
        <c:majorGridlines>
          <c:spPr>
            <a:ln w="9525" cap="flat" cmpd="sng" algn="ctr">
              <a:solidFill>
                <a:schemeClr val="dk1">
                  <a:lumMod val="15000"/>
                  <a:lumOff val="85000"/>
                  <a:alpha val="54000"/>
                </a:schemeClr>
              </a:solidFill>
              <a:round/>
            </a:ln>
            <a:effectLst/>
          </c:spPr>
        </c:majorGridlines>
        <c:minorGridlines>
          <c:spPr>
            <a:ln w="9525" cap="flat" cmpd="sng" algn="ctr">
              <a:solidFill>
                <a:schemeClr val="dk1">
                  <a:lumMod val="15000"/>
                  <a:lumOff val="85000"/>
                  <a:alpha val="51000"/>
                </a:schemeClr>
              </a:solidFill>
              <a:round/>
            </a:ln>
            <a:effectLst/>
          </c:spPr>
        </c:min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539666352"/>
        <c:crosses val="autoZero"/>
        <c:auto val="1"/>
        <c:lblAlgn val="ctr"/>
        <c:lblOffset val="100"/>
        <c:noMultiLvlLbl val="0"/>
      </c:catAx>
      <c:valAx>
        <c:axId val="539666352"/>
        <c:scaling>
          <c:orientation val="minMax"/>
        </c:scaling>
        <c:delete val="0"/>
        <c:axPos val="l"/>
        <c:majorGridlines>
          <c:spPr>
            <a:ln w="9525" cap="flat" cmpd="sng" algn="ctr">
              <a:solidFill>
                <a:schemeClr val="dk1">
                  <a:lumMod val="15000"/>
                  <a:lumOff val="85000"/>
                  <a:alpha val="54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539661360"/>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showDLblsOverMax val="0"/>
  </c:chart>
  <c:spPr>
    <a:solidFill>
      <a:schemeClr val="l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IN"/>
              <a:t>Credit Card Usage</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1"/>
          <c:order val="0"/>
          <c:tx>
            <c:v>Volume (in actual)</c:v>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invertIfNegative val="0"/>
          <c:cat>
            <c:numRef>
              <c:f>refined!$H$3:$H$17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refined!$I$3:$I$17</c:f>
              <c:numCache>
                <c:formatCode>0</c:formatCode>
                <c:ptCount val="15"/>
                <c:pt idx="0">
                  <c:v>25608258</c:v>
                </c:pt>
                <c:pt idx="1">
                  <c:v>33372045</c:v>
                </c:pt>
                <c:pt idx="2">
                  <c:v>44192634</c:v>
                </c:pt>
                <c:pt idx="3">
                  <c:v>50915719</c:v>
                </c:pt>
                <c:pt idx="4">
                  <c:v>64787108</c:v>
                </c:pt>
                <c:pt idx="5">
                  <c:v>79440734</c:v>
                </c:pt>
                <c:pt idx="6">
                  <c:v>110762306</c:v>
                </c:pt>
                <c:pt idx="7">
                  <c:v>145006210</c:v>
                </c:pt>
                <c:pt idx="8">
                  <c:v>178415705</c:v>
                </c:pt>
                <c:pt idx="9">
                  <c:v>132321200</c:v>
                </c:pt>
                <c:pt idx="10">
                  <c:v>182048394</c:v>
                </c:pt>
                <c:pt idx="11">
                  <c:v>122069302</c:v>
                </c:pt>
                <c:pt idx="12">
                  <c:v>143420966</c:v>
                </c:pt>
                <c:pt idx="13">
                  <c:v>197093825</c:v>
                </c:pt>
                <c:pt idx="14">
                  <c:v>243275291</c:v>
                </c:pt>
              </c:numCache>
            </c:numRef>
          </c:val>
          <c:extLst>
            <c:ext xmlns:c16="http://schemas.microsoft.com/office/drawing/2014/chart" uri="{C3380CC4-5D6E-409C-BE32-E72D297353CC}">
              <c16:uniqueId val="{00000000-7069-415A-8062-DB9349784DCD}"/>
            </c:ext>
          </c:extLst>
        </c:ser>
        <c:dLbls>
          <c:showLegendKey val="0"/>
          <c:showVal val="0"/>
          <c:showCatName val="0"/>
          <c:showSerName val="0"/>
          <c:showPercent val="0"/>
          <c:showBubbleSize val="0"/>
        </c:dLbls>
        <c:gapWidth val="219"/>
        <c:axId val="7113471"/>
        <c:axId val="2120127615"/>
      </c:barChart>
      <c:lineChart>
        <c:grouping val="standard"/>
        <c:varyColors val="0"/>
        <c:ser>
          <c:idx val="0"/>
          <c:order val="1"/>
          <c:tx>
            <c:v>Value (in Rs. Crores)</c:v>
          </c:tx>
          <c:spPr>
            <a:ln w="15875" cap="rnd">
              <a:solidFill>
                <a:srgbClr val="0070C0"/>
              </a:solidFill>
              <a:round/>
            </a:ln>
            <a:effectLst/>
          </c:spPr>
          <c:marker>
            <c:symbol val="none"/>
          </c:marker>
          <c:cat>
            <c:numRef>
              <c:f>refined!$H$3:$H$17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refined!$J$3:$J$17</c:f>
              <c:numCache>
                <c:formatCode>General</c:formatCode>
                <c:ptCount val="15"/>
                <c:pt idx="0">
                  <c:v>7471.76</c:v>
                </c:pt>
                <c:pt idx="1">
                  <c:v>9874.5600000000013</c:v>
                </c:pt>
                <c:pt idx="2">
                  <c:v>12541.013000000001</c:v>
                </c:pt>
                <c:pt idx="3">
                  <c:v>15266.798000000001</c:v>
                </c:pt>
                <c:pt idx="4">
                  <c:v>19611.195</c:v>
                </c:pt>
                <c:pt idx="5">
                  <c:v>24341.415000000001</c:v>
                </c:pt>
                <c:pt idx="6">
                  <c:v>33929.740000000005</c:v>
                </c:pt>
                <c:pt idx="7">
                  <c:v>47762.5</c:v>
                </c:pt>
                <c:pt idx="8">
                  <c:v>59616.39</c:v>
                </c:pt>
                <c:pt idx="9">
                  <c:v>45567.64</c:v>
                </c:pt>
                <c:pt idx="10">
                  <c:v>74884.67</c:v>
                </c:pt>
                <c:pt idx="11">
                  <c:v>41766.618999999999</c:v>
                </c:pt>
                <c:pt idx="12">
                  <c:v>49789.427799999998</c:v>
                </c:pt>
                <c:pt idx="13">
                  <c:v>62284.086199999998</c:v>
                </c:pt>
                <c:pt idx="14">
                  <c:v>70380.311300000001</c:v>
                </c:pt>
              </c:numCache>
            </c:numRef>
          </c:val>
          <c:smooth val="0"/>
          <c:extLst>
            <c:ext xmlns:c16="http://schemas.microsoft.com/office/drawing/2014/chart" uri="{C3380CC4-5D6E-409C-BE32-E72D297353CC}">
              <c16:uniqueId val="{00000001-7069-415A-8062-DB9349784DCD}"/>
            </c:ext>
          </c:extLst>
        </c:ser>
        <c:dLbls>
          <c:showLegendKey val="0"/>
          <c:showVal val="0"/>
          <c:showCatName val="0"/>
          <c:showSerName val="0"/>
          <c:showPercent val="0"/>
          <c:showBubbleSize val="0"/>
        </c:dLbls>
        <c:marker val="1"/>
        <c:smooth val="0"/>
        <c:axId val="2120607599"/>
        <c:axId val="63241359"/>
      </c:lineChart>
      <c:catAx>
        <c:axId val="71134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2120127615"/>
        <c:crosses val="autoZero"/>
        <c:auto val="1"/>
        <c:lblAlgn val="ctr"/>
        <c:lblOffset val="100"/>
        <c:noMultiLvlLbl val="0"/>
      </c:catAx>
      <c:valAx>
        <c:axId val="212012761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7113471"/>
        <c:crosses val="autoZero"/>
        <c:crossBetween val="between"/>
      </c:valAx>
      <c:valAx>
        <c:axId val="6324135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2120607599"/>
        <c:crosses val="max"/>
        <c:crossBetween val="between"/>
      </c:valAx>
      <c:catAx>
        <c:axId val="2120607599"/>
        <c:scaling>
          <c:orientation val="minMax"/>
        </c:scaling>
        <c:delete val="1"/>
        <c:axPos val="b"/>
        <c:numFmt formatCode="General" sourceLinked="1"/>
        <c:majorTickMark val="none"/>
        <c:minorTickMark val="none"/>
        <c:tickLblPos val="nextTo"/>
        <c:crossAx val="632413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sz="1400" b="0" i="0" baseline="0">
                <a:effectLst/>
              </a:rPr>
              <a:t>Credit Card vs. Debit Card Spendings at POS (volume)</a:t>
            </a:r>
            <a:endParaRPr lang="en-IN" sz="1400">
              <a:effectLst/>
            </a:endParaRP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endParaRPr lang="en-IN" sz="140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barChart>
        <c:barDir val="col"/>
        <c:grouping val="clustered"/>
        <c:varyColors val="0"/>
        <c:ser>
          <c:idx val="0"/>
          <c:order val="0"/>
          <c:tx>
            <c:v>Credit Card Transaction Volume</c:v>
          </c:tx>
          <c:spPr>
            <a:solidFill>
              <a:schemeClr val="accent1"/>
            </a:solidFill>
            <a:ln>
              <a:noFill/>
            </a:ln>
            <a:effectLst/>
          </c:spPr>
          <c:invertIfNegative val="0"/>
          <c:cat>
            <c:numRef>
              <c:f>'pos data'!$E$3:$E$17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'pos data'!$B$3:$B$17</c:f>
              <c:numCache>
                <c:formatCode>0</c:formatCode>
                <c:ptCount val="15"/>
                <c:pt idx="0">
                  <c:v>25608258</c:v>
                </c:pt>
                <c:pt idx="1">
                  <c:v>33372045</c:v>
                </c:pt>
                <c:pt idx="2">
                  <c:v>44192634</c:v>
                </c:pt>
                <c:pt idx="3">
                  <c:v>50915719</c:v>
                </c:pt>
                <c:pt idx="4">
                  <c:v>64787108</c:v>
                </c:pt>
                <c:pt idx="5">
                  <c:v>79440734</c:v>
                </c:pt>
                <c:pt idx="6">
                  <c:v>110762306</c:v>
                </c:pt>
                <c:pt idx="7">
                  <c:v>145006210</c:v>
                </c:pt>
                <c:pt idx="8">
                  <c:v>178415705</c:v>
                </c:pt>
                <c:pt idx="9">
                  <c:v>132321200</c:v>
                </c:pt>
                <c:pt idx="10">
                  <c:v>182048394</c:v>
                </c:pt>
                <c:pt idx="11">
                  <c:v>122069302</c:v>
                </c:pt>
                <c:pt idx="12">
                  <c:v>143420966</c:v>
                </c:pt>
                <c:pt idx="13">
                  <c:v>197093825</c:v>
                </c:pt>
                <c:pt idx="14">
                  <c:v>243275291</c:v>
                </c:pt>
              </c:numCache>
            </c:numRef>
          </c:val>
          <c:extLst>
            <c:ext xmlns:c16="http://schemas.microsoft.com/office/drawing/2014/chart" uri="{C3380CC4-5D6E-409C-BE32-E72D297353CC}">
              <c16:uniqueId val="{00000000-2873-4CDA-8C79-1B37FCAAFB00}"/>
            </c:ext>
          </c:extLst>
        </c:ser>
        <c:ser>
          <c:idx val="2"/>
          <c:order val="1"/>
          <c:tx>
            <c:v>Debit Card Transaction Volume</c:v>
          </c:tx>
          <c:spPr>
            <a:solidFill>
              <a:schemeClr val="accent3"/>
            </a:solidFill>
            <a:ln>
              <a:noFill/>
            </a:ln>
            <a:effectLst/>
          </c:spPr>
          <c:invertIfNegative val="0"/>
          <c:cat>
            <c:numRef>
              <c:f>'pos data'!$E$3:$E$17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'pos data'!$F$3:$F$17</c:f>
              <c:numCache>
                <c:formatCode>General</c:formatCode>
                <c:ptCount val="15"/>
                <c:pt idx="0">
                  <c:v>26603990</c:v>
                </c:pt>
                <c:pt idx="1">
                  <c:v>36895944</c:v>
                </c:pt>
                <c:pt idx="2">
                  <c:v>52163965</c:v>
                </c:pt>
                <c:pt idx="3">
                  <c:v>64662917</c:v>
                </c:pt>
                <c:pt idx="4">
                  <c:v>94969528</c:v>
                </c:pt>
                <c:pt idx="5">
                  <c:v>129069978</c:v>
                </c:pt>
                <c:pt idx="6">
                  <c:v>261256191</c:v>
                </c:pt>
                <c:pt idx="7">
                  <c:v>367352976</c:v>
                </c:pt>
                <c:pt idx="8">
                  <c:v>425640612</c:v>
                </c:pt>
                <c:pt idx="9">
                  <c:v>318383225</c:v>
                </c:pt>
                <c:pt idx="10">
                  <c:v>340400346</c:v>
                </c:pt>
                <c:pt idx="11">
                  <c:v>205226473</c:v>
                </c:pt>
                <c:pt idx="12">
                  <c:v>138520969</c:v>
                </c:pt>
                <c:pt idx="13">
                  <c:v>106857603</c:v>
                </c:pt>
                <c:pt idx="14">
                  <c:v>83219175</c:v>
                </c:pt>
              </c:numCache>
            </c:numRef>
          </c:val>
          <c:extLst>
            <c:ext xmlns:c16="http://schemas.microsoft.com/office/drawing/2014/chart" uri="{C3380CC4-5D6E-409C-BE32-E72D297353CC}">
              <c16:uniqueId val="{00000001-2873-4CDA-8C79-1B37FCAAFB00}"/>
            </c:ext>
          </c:extLst>
        </c:ser>
        <c:dLbls>
          <c:showLegendKey val="0"/>
          <c:showVal val="0"/>
          <c:showCatName val="0"/>
          <c:showSerName val="0"/>
          <c:showPercent val="0"/>
          <c:showBubbleSize val="0"/>
        </c:dLbls>
        <c:gapWidth val="219"/>
        <c:overlap val="-27"/>
        <c:axId val="1871222240"/>
        <c:axId val="1958492720"/>
      </c:barChart>
      <c:catAx>
        <c:axId val="1871222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58492720"/>
        <c:crosses val="autoZero"/>
        <c:auto val="1"/>
        <c:lblAlgn val="ctr"/>
        <c:lblOffset val="100"/>
        <c:noMultiLvlLbl val="0"/>
      </c:catAx>
      <c:valAx>
        <c:axId val="195849272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12222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Number of cards issued at the end of July 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refined!$K$2</c:f>
              <c:strCache>
                <c:ptCount val="1"/>
                <c:pt idx="0">
                  <c:v>Credit Cards (crores)</c:v>
                </c:pt>
              </c:strCache>
            </c:strRef>
          </c:tx>
          <c:spPr>
            <a:solidFill>
              <a:schemeClr val="accent1"/>
            </a:solidFill>
            <a:ln>
              <a:noFill/>
            </a:ln>
            <a:effectLst/>
          </c:spPr>
          <c:invertIfNegative val="0"/>
          <c:cat>
            <c:numRef>
              <c:f>refined!$J$3:$J$17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refined!$K$3:$K$17</c:f>
              <c:numCache>
                <c:formatCode>General</c:formatCode>
                <c:ptCount val="15"/>
                <c:pt idx="0">
                  <c:v>1.7646842643333334</c:v>
                </c:pt>
                <c:pt idx="1">
                  <c:v>1.8152748000000001</c:v>
                </c:pt>
                <c:pt idx="2">
                  <c:v>1.8782297999999999</c:v>
                </c:pt>
                <c:pt idx="3">
                  <c:v>1.9613711</c:v>
                </c:pt>
                <c:pt idx="4">
                  <c:v>2.1948568000000002</c:v>
                </c:pt>
                <c:pt idx="5">
                  <c:v>2.5943793999999998</c:v>
                </c:pt>
                <c:pt idx="6">
                  <c:v>3.2056928999999998</c:v>
                </c:pt>
                <c:pt idx="7">
                  <c:v>4.0166012999999996</c:v>
                </c:pt>
                <c:pt idx="8">
                  <c:v>5.0263910999999997</c:v>
                </c:pt>
                <c:pt idx="9">
                  <c:v>5.7632047000000002</c:v>
                </c:pt>
                <c:pt idx="10">
                  <c:v>6.3414463000000003</c:v>
                </c:pt>
                <c:pt idx="11">
                  <c:v>8.0255721999999992</c:v>
                </c:pt>
                <c:pt idx="12">
                  <c:v>8.9873250999999996</c:v>
                </c:pt>
                <c:pt idx="13">
                  <c:v>10.4568437</c:v>
                </c:pt>
                <c:pt idx="14">
                  <c:v>11.1622772</c:v>
                </c:pt>
              </c:numCache>
            </c:numRef>
          </c:val>
          <c:extLst>
            <c:ext xmlns:c16="http://schemas.microsoft.com/office/drawing/2014/chart" uri="{C3380CC4-5D6E-409C-BE32-E72D297353CC}">
              <c16:uniqueId val="{00000000-12C8-4C9D-841D-38FB8C694A28}"/>
            </c:ext>
          </c:extLst>
        </c:ser>
        <c:dLbls>
          <c:showLegendKey val="0"/>
          <c:showVal val="0"/>
          <c:showCatName val="0"/>
          <c:showSerName val="0"/>
          <c:showPercent val="0"/>
          <c:showBubbleSize val="0"/>
        </c:dLbls>
        <c:gapWidth val="150"/>
        <c:axId val="935055520"/>
        <c:axId val="935061760"/>
      </c:barChart>
      <c:lineChart>
        <c:grouping val="standard"/>
        <c:varyColors val="0"/>
        <c:ser>
          <c:idx val="1"/>
          <c:order val="1"/>
          <c:tx>
            <c:strRef>
              <c:f>refined!$L$2</c:f>
              <c:strCache>
                <c:ptCount val="1"/>
                <c:pt idx="0">
                  <c:v>Debit Cards (crores)</c:v>
                </c:pt>
              </c:strCache>
            </c:strRef>
          </c:tx>
          <c:spPr>
            <a:ln w="28575" cap="rnd">
              <a:solidFill>
                <a:srgbClr val="0070C0"/>
              </a:solidFill>
              <a:round/>
            </a:ln>
            <a:effectLst/>
          </c:spPr>
          <c:marker>
            <c:symbol val="circle"/>
            <c:size val="5"/>
            <c:spPr>
              <a:solidFill>
                <a:schemeClr val="accent2"/>
              </a:solidFill>
              <a:ln w="9525">
                <a:solidFill>
                  <a:srgbClr val="0070C0"/>
                </a:solidFill>
              </a:ln>
              <a:effectLst/>
            </c:spPr>
          </c:marker>
          <c:cat>
            <c:numRef>
              <c:f>refined!$J$3:$J$17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refined!$L$3:$L$17</c:f>
              <c:numCache>
                <c:formatCode>General</c:formatCode>
                <c:ptCount val="15"/>
                <c:pt idx="0">
                  <c:v>24.3342679</c:v>
                </c:pt>
                <c:pt idx="1">
                  <c:v>29.407794299999999</c:v>
                </c:pt>
                <c:pt idx="2">
                  <c:v>35.541774099999998</c:v>
                </c:pt>
                <c:pt idx="3">
                  <c:v>41.3919085</c:v>
                </c:pt>
                <c:pt idx="4">
                  <c:v>58.680315800000002</c:v>
                </c:pt>
                <c:pt idx="5">
                  <c:v>69.7222455</c:v>
                </c:pt>
                <c:pt idx="6">
                  <c:v>80.405112299999999</c:v>
                </c:pt>
                <c:pt idx="7">
                  <c:v>96.200021300000003</c:v>
                </c:pt>
                <c:pt idx="8">
                  <c:v>81.538572400000007</c:v>
                </c:pt>
                <c:pt idx="9">
                  <c:v>85.235500099999996</c:v>
                </c:pt>
                <c:pt idx="10">
                  <c:v>90.562931300000002</c:v>
                </c:pt>
                <c:pt idx="11">
                  <c:v>92.813449399999996</c:v>
                </c:pt>
                <c:pt idx="12">
                  <c:v>97.074052600000002</c:v>
                </c:pt>
                <c:pt idx="13">
                  <c:v>96.320228900000004</c:v>
                </c:pt>
                <c:pt idx="14">
                  <c:v>101.2727337</c:v>
                </c:pt>
              </c:numCache>
            </c:numRef>
          </c:val>
          <c:smooth val="0"/>
          <c:extLst>
            <c:ext xmlns:c16="http://schemas.microsoft.com/office/drawing/2014/chart" uri="{C3380CC4-5D6E-409C-BE32-E72D297353CC}">
              <c16:uniqueId val="{00000001-12C8-4C9D-841D-38FB8C694A28}"/>
            </c:ext>
          </c:extLst>
        </c:ser>
        <c:dLbls>
          <c:showLegendKey val="0"/>
          <c:showVal val="0"/>
          <c:showCatName val="0"/>
          <c:showSerName val="0"/>
          <c:showPercent val="0"/>
          <c:showBubbleSize val="0"/>
        </c:dLbls>
        <c:marker val="1"/>
        <c:smooth val="0"/>
        <c:axId val="925773600"/>
        <c:axId val="925757792"/>
      </c:lineChart>
      <c:catAx>
        <c:axId val="925773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5757792"/>
        <c:crosses val="autoZero"/>
        <c:auto val="1"/>
        <c:lblAlgn val="ctr"/>
        <c:lblOffset val="100"/>
        <c:noMultiLvlLbl val="0"/>
      </c:catAx>
      <c:valAx>
        <c:axId val="92575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5773600"/>
        <c:crosses val="autoZero"/>
        <c:crossBetween val="between"/>
      </c:valAx>
      <c:valAx>
        <c:axId val="93506176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5055520"/>
        <c:crosses val="max"/>
        <c:crossBetween val="between"/>
      </c:valAx>
      <c:catAx>
        <c:axId val="935055520"/>
        <c:scaling>
          <c:orientation val="minMax"/>
        </c:scaling>
        <c:delete val="1"/>
        <c:axPos val="b"/>
        <c:numFmt formatCode="General" sourceLinked="1"/>
        <c:majorTickMark val="out"/>
        <c:minorTickMark val="none"/>
        <c:tickLblPos val="nextTo"/>
        <c:crossAx val="93506176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Credit card vs Debit card transaction value at PoS (in crores)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Sheet1!$K$4</c:f>
              <c:strCache>
                <c:ptCount val="1"/>
                <c:pt idx="0">
                  <c:v>Credit card transaction value  PoS (Rs crores)</c:v>
                </c:pt>
              </c:strCache>
            </c:strRef>
          </c:tx>
          <c:spPr>
            <a:solidFill>
              <a:schemeClr val="accent1"/>
            </a:solidFill>
            <a:ln>
              <a:noFill/>
            </a:ln>
            <a:effectLst/>
          </c:spPr>
          <c:invertIfNegative val="0"/>
          <c:cat>
            <c:numRef>
              <c:f>Sheet1!$J$5:$J$19</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Sheet1!$K$5:$K$19</c:f>
              <c:numCache>
                <c:formatCode>General</c:formatCode>
                <c:ptCount val="15"/>
                <c:pt idx="0">
                  <c:v>7471.76</c:v>
                </c:pt>
                <c:pt idx="1">
                  <c:v>9874.5600000000013</c:v>
                </c:pt>
                <c:pt idx="2">
                  <c:v>12541.013000000001</c:v>
                </c:pt>
                <c:pt idx="3">
                  <c:v>15266.798000000001</c:v>
                </c:pt>
                <c:pt idx="4">
                  <c:v>19611.195</c:v>
                </c:pt>
                <c:pt idx="5">
                  <c:v>24341.415000000001</c:v>
                </c:pt>
                <c:pt idx="6">
                  <c:v>33929.740000000005</c:v>
                </c:pt>
                <c:pt idx="7">
                  <c:v>47762.5</c:v>
                </c:pt>
                <c:pt idx="8">
                  <c:v>59616.39</c:v>
                </c:pt>
                <c:pt idx="9">
                  <c:v>45567.64</c:v>
                </c:pt>
                <c:pt idx="10">
                  <c:v>74884.67</c:v>
                </c:pt>
                <c:pt idx="11">
                  <c:v>41766.618999999999</c:v>
                </c:pt>
                <c:pt idx="12">
                  <c:v>49789.427799999998</c:v>
                </c:pt>
                <c:pt idx="13">
                  <c:v>62284.086199999998</c:v>
                </c:pt>
                <c:pt idx="14">
                  <c:v>70380.311300000001</c:v>
                </c:pt>
              </c:numCache>
            </c:numRef>
          </c:val>
          <c:extLst>
            <c:ext xmlns:c16="http://schemas.microsoft.com/office/drawing/2014/chart" uri="{C3380CC4-5D6E-409C-BE32-E72D297353CC}">
              <c16:uniqueId val="{00000000-FD9D-49AF-85E9-C5CDD502A947}"/>
            </c:ext>
          </c:extLst>
        </c:ser>
        <c:ser>
          <c:idx val="1"/>
          <c:order val="1"/>
          <c:tx>
            <c:strRef>
              <c:f>Sheet1!$L$4</c:f>
              <c:strCache>
                <c:ptCount val="1"/>
                <c:pt idx="0">
                  <c:v>Debit card transactions value PoS (Rs crores)</c:v>
                </c:pt>
              </c:strCache>
            </c:strRef>
          </c:tx>
          <c:spPr>
            <a:solidFill>
              <a:schemeClr val="accent2">
                <a:lumMod val="50000"/>
              </a:schemeClr>
            </a:solidFill>
            <a:ln>
              <a:noFill/>
            </a:ln>
            <a:effectLst/>
          </c:spPr>
          <c:invertIfNegative val="0"/>
          <c:cat>
            <c:numRef>
              <c:f>Sheet1!$J$5:$J$19</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Sheet1!$L$5:$L$19</c:f>
              <c:numCache>
                <c:formatCode>General</c:formatCode>
                <c:ptCount val="15"/>
                <c:pt idx="0">
                  <c:v>4232.5657580070265</c:v>
                </c:pt>
                <c:pt idx="1">
                  <c:v>5787.0857120869996</c:v>
                </c:pt>
                <c:pt idx="2">
                  <c:v>7714.9155573400112</c:v>
                </c:pt>
                <c:pt idx="3">
                  <c:v>9908.1230123010009</c:v>
                </c:pt>
                <c:pt idx="4">
                  <c:v>14007.201897144003</c:v>
                </c:pt>
                <c:pt idx="5">
                  <c:v>17091.923477069999</c:v>
                </c:pt>
                <c:pt idx="6">
                  <c:v>35131.045477311054</c:v>
                </c:pt>
                <c:pt idx="7">
                  <c:v>48306.202729240336</c:v>
                </c:pt>
                <c:pt idx="8">
                  <c:v>58545.070215206993</c:v>
                </c:pt>
                <c:pt idx="9">
                  <c:v>49839.818309291972</c:v>
                </c:pt>
                <c:pt idx="10">
                  <c:v>60598.737951287978</c:v>
                </c:pt>
                <c:pt idx="11">
                  <c:v>41197.586174720782</c:v>
                </c:pt>
                <c:pt idx="12">
                  <c:v>33512.502870593991</c:v>
                </c:pt>
                <c:pt idx="13">
                  <c:v>28599.756239621027</c:v>
                </c:pt>
                <c:pt idx="14">
                  <c:v>23921.190106991005</c:v>
                </c:pt>
              </c:numCache>
            </c:numRef>
          </c:val>
          <c:extLst>
            <c:ext xmlns:c16="http://schemas.microsoft.com/office/drawing/2014/chart" uri="{C3380CC4-5D6E-409C-BE32-E72D297353CC}">
              <c16:uniqueId val="{00000001-FD9D-49AF-85E9-C5CDD502A947}"/>
            </c:ext>
          </c:extLst>
        </c:ser>
        <c:dLbls>
          <c:showLegendKey val="0"/>
          <c:showVal val="0"/>
          <c:showCatName val="0"/>
          <c:showSerName val="0"/>
          <c:showPercent val="0"/>
          <c:showBubbleSize val="0"/>
        </c:dLbls>
        <c:gapWidth val="219"/>
        <c:overlap val="-27"/>
        <c:axId val="347345440"/>
        <c:axId val="347335456"/>
      </c:barChart>
      <c:catAx>
        <c:axId val="34734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335456"/>
        <c:crosses val="autoZero"/>
        <c:auto val="1"/>
        <c:lblAlgn val="ctr"/>
        <c:lblOffset val="100"/>
        <c:noMultiLvlLbl val="0"/>
      </c:catAx>
      <c:valAx>
        <c:axId val="347335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3454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Credit Card vs. Debit Card Spendings at E-commerce platforms (volume)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1"/>
          <c:order val="0"/>
          <c:tx>
            <c:v>Credit Card Volumes (in acutal)</c:v>
          </c:tx>
          <c:spPr>
            <a:solidFill>
              <a:schemeClr val="accent1">
                <a:lumMod val="60000"/>
                <a:lumOff val="40000"/>
              </a:schemeClr>
            </a:solidFill>
            <a:ln>
              <a:noFill/>
            </a:ln>
            <a:effectLst/>
          </c:spPr>
          <c:invertIfNegative val="0"/>
          <c:cat>
            <c:numRef>
              <c:f>'ecom data'!$A$11:$A$14</c:f>
              <c:numCache>
                <c:formatCode>General</c:formatCode>
                <c:ptCount val="4"/>
                <c:pt idx="0">
                  <c:v>2022</c:v>
                </c:pt>
                <c:pt idx="1">
                  <c:v>2023</c:v>
                </c:pt>
                <c:pt idx="2">
                  <c:v>2024</c:v>
                </c:pt>
                <c:pt idx="3">
                  <c:v>2025</c:v>
                </c:pt>
              </c:numCache>
            </c:numRef>
          </c:cat>
          <c:val>
            <c:numRef>
              <c:f>'ecom data'!$B$11:$B$14</c:f>
              <c:numCache>
                <c:formatCode>General</c:formatCode>
                <c:ptCount val="4"/>
                <c:pt idx="0">
                  <c:v>112763160</c:v>
                </c:pt>
                <c:pt idx="1">
                  <c:v>134667574</c:v>
                </c:pt>
                <c:pt idx="2">
                  <c:v>186684752</c:v>
                </c:pt>
                <c:pt idx="3">
                  <c:v>241322355</c:v>
                </c:pt>
              </c:numCache>
            </c:numRef>
          </c:val>
          <c:extLst>
            <c:ext xmlns:c16="http://schemas.microsoft.com/office/drawing/2014/chart" uri="{C3380CC4-5D6E-409C-BE32-E72D297353CC}">
              <c16:uniqueId val="{00000000-D962-4D20-AD08-74DAB2A9D8D0}"/>
            </c:ext>
          </c:extLst>
        </c:ser>
        <c:ser>
          <c:idx val="0"/>
          <c:order val="1"/>
          <c:tx>
            <c:v>Debit Card Volumes (in acutal) </c:v>
          </c:tx>
          <c:spPr>
            <a:solidFill>
              <a:srgbClr val="00B0F0"/>
            </a:solidFill>
            <a:ln>
              <a:noFill/>
            </a:ln>
            <a:effectLst/>
          </c:spPr>
          <c:invertIfNegative val="0"/>
          <c:val>
            <c:numRef>
              <c:f>'ecom data'!$G$11:$G$14</c:f>
              <c:numCache>
                <c:formatCode>General</c:formatCode>
                <c:ptCount val="4"/>
                <c:pt idx="0">
                  <c:v>107458644</c:v>
                </c:pt>
                <c:pt idx="1">
                  <c:v>61443583</c:v>
                </c:pt>
                <c:pt idx="2">
                  <c:v>38680230</c:v>
                </c:pt>
                <c:pt idx="3">
                  <c:v>28764405</c:v>
                </c:pt>
              </c:numCache>
            </c:numRef>
          </c:val>
          <c:extLst>
            <c:ext xmlns:c16="http://schemas.microsoft.com/office/drawing/2014/chart" uri="{C3380CC4-5D6E-409C-BE32-E72D297353CC}">
              <c16:uniqueId val="{00000001-D962-4D20-AD08-74DAB2A9D8D0}"/>
            </c:ext>
          </c:extLst>
        </c:ser>
        <c:dLbls>
          <c:showLegendKey val="0"/>
          <c:showVal val="0"/>
          <c:showCatName val="0"/>
          <c:showSerName val="0"/>
          <c:showPercent val="0"/>
          <c:showBubbleSize val="0"/>
        </c:dLbls>
        <c:gapWidth val="150"/>
        <c:axId val="1997530015"/>
        <c:axId val="1901159487"/>
      </c:barChart>
      <c:catAx>
        <c:axId val="1997530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1159487"/>
        <c:crosses val="autoZero"/>
        <c:auto val="1"/>
        <c:lblAlgn val="ctr"/>
        <c:lblOffset val="100"/>
        <c:noMultiLvlLbl val="0"/>
      </c:catAx>
      <c:valAx>
        <c:axId val="19011594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7530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'yoy dc data'!$C$2</c:f>
              <c:strCache>
                <c:ptCount val="1"/>
                <c:pt idx="0">
                  <c:v>Debit card payments volume PoS</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poly"/>
            <c:order val="6"/>
            <c:dispRSqr val="1"/>
            <c:dispEq val="0"/>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cat>
            <c:numRef>
              <c:f>'yoy dc data'!$B$3:$B$17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'yoy dc data'!$C$3:$C$17</c:f>
              <c:numCache>
                <c:formatCode>General</c:formatCode>
                <c:ptCount val="15"/>
                <c:pt idx="0">
                  <c:v>26603990</c:v>
                </c:pt>
                <c:pt idx="1">
                  <c:v>36895944</c:v>
                </c:pt>
                <c:pt idx="2" formatCode="0">
                  <c:v>52163965</c:v>
                </c:pt>
                <c:pt idx="3">
                  <c:v>64662917</c:v>
                </c:pt>
                <c:pt idx="4">
                  <c:v>94969528</c:v>
                </c:pt>
                <c:pt idx="5">
                  <c:v>129069978</c:v>
                </c:pt>
                <c:pt idx="6">
                  <c:v>261256191</c:v>
                </c:pt>
                <c:pt idx="7" formatCode="0">
                  <c:v>367352976</c:v>
                </c:pt>
                <c:pt idx="8" formatCode="0">
                  <c:v>425640612</c:v>
                </c:pt>
                <c:pt idx="9">
                  <c:v>318383225</c:v>
                </c:pt>
                <c:pt idx="10">
                  <c:v>340400346</c:v>
                </c:pt>
                <c:pt idx="11" formatCode="0">
                  <c:v>205226473</c:v>
                </c:pt>
                <c:pt idx="12" formatCode="0">
                  <c:v>148520969</c:v>
                </c:pt>
                <c:pt idx="13" formatCode="0">
                  <c:v>106857603</c:v>
                </c:pt>
                <c:pt idx="14" formatCode="0">
                  <c:v>83219175</c:v>
                </c:pt>
              </c:numCache>
            </c:numRef>
          </c:val>
          <c:smooth val="0"/>
          <c:extLst>
            <c:ext xmlns:c16="http://schemas.microsoft.com/office/drawing/2014/chart" uri="{C3380CC4-5D6E-409C-BE32-E72D297353CC}">
              <c16:uniqueId val="{00000001-121D-4714-8EF2-9B8EB2D05EC9}"/>
            </c:ext>
          </c:extLst>
        </c:ser>
        <c:dLbls>
          <c:showLegendKey val="0"/>
          <c:showVal val="0"/>
          <c:showCatName val="0"/>
          <c:showSerName val="0"/>
          <c:showPercent val="0"/>
          <c:showBubbleSize val="0"/>
        </c:dLbls>
        <c:smooth val="0"/>
        <c:axId val="1440986783"/>
        <c:axId val="1441000095"/>
      </c:lineChart>
      <c:catAx>
        <c:axId val="14409867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1000095"/>
        <c:crosses val="autoZero"/>
        <c:auto val="1"/>
        <c:lblAlgn val="ctr"/>
        <c:lblOffset val="100"/>
        <c:noMultiLvlLbl val="0"/>
      </c:catAx>
      <c:valAx>
        <c:axId val="14410000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0986783"/>
        <c:crosses val="autoZero"/>
        <c:crossBetween val="between"/>
      </c:valAx>
      <c:spPr>
        <a:noFill/>
        <a:ln>
          <a:noFill/>
        </a:ln>
        <a:effectLst/>
      </c:spPr>
    </c:plotArea>
    <c:plotVisOnly val="1"/>
    <c:dispBlanksAs val="gap"/>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Debit Card</a:t>
            </a:r>
            <a:r>
              <a:rPr lang="en-US" baseline="0"/>
              <a:t> Transactions </a:t>
            </a:r>
            <a:r>
              <a:rPr lang="en-US"/>
              <a:t>value PoS (Rs crores)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strRef>
              <c:f>'pos data'!$L$2</c:f>
              <c:strCache>
                <c:ptCount val="1"/>
                <c:pt idx="0">
                  <c:v> value PoS (Rs crores)</c:v>
                </c:pt>
              </c:strCache>
            </c:strRef>
          </c:tx>
          <c:spPr>
            <a:ln w="28575" cap="rnd">
              <a:solidFill>
                <a:schemeClr val="accent2"/>
              </a:solidFill>
              <a:round/>
            </a:ln>
            <a:effectLst/>
          </c:spPr>
          <c:marker>
            <c:symbol val="none"/>
          </c:marker>
          <c:trendline>
            <c:spPr>
              <a:ln w="19050" cap="rnd">
                <a:solidFill>
                  <a:schemeClr val="accent2"/>
                </a:solidFill>
                <a:prstDash val="sysDot"/>
              </a:ln>
              <a:effectLst/>
            </c:spPr>
            <c:trendlineType val="poly"/>
            <c:order val="6"/>
            <c:dispRSqr val="1"/>
            <c:dispEq val="0"/>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cat>
            <c:numRef>
              <c:f>'pos data'!$K$3:$K$17</c:f>
              <c:numCache>
                <c:formatCode>General</c:formatCode>
                <c:ptCount val="15"/>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numCache>
            </c:numRef>
          </c:cat>
          <c:val>
            <c:numRef>
              <c:f>'pos data'!$L$3:$L$17</c:f>
              <c:numCache>
                <c:formatCode>General</c:formatCode>
                <c:ptCount val="15"/>
                <c:pt idx="0">
                  <c:v>4232.5657580070265</c:v>
                </c:pt>
                <c:pt idx="1">
                  <c:v>5787.0857120869996</c:v>
                </c:pt>
                <c:pt idx="2">
                  <c:v>7714.9155573400112</c:v>
                </c:pt>
                <c:pt idx="3">
                  <c:v>9908.1230123010009</c:v>
                </c:pt>
                <c:pt idx="4">
                  <c:v>14007.201897144003</c:v>
                </c:pt>
                <c:pt idx="5">
                  <c:v>17091.923477069999</c:v>
                </c:pt>
                <c:pt idx="6">
                  <c:v>35131.045477311054</c:v>
                </c:pt>
                <c:pt idx="7">
                  <c:v>48306.202729240336</c:v>
                </c:pt>
                <c:pt idx="8">
                  <c:v>58545.070215206993</c:v>
                </c:pt>
                <c:pt idx="9">
                  <c:v>49839.818309291972</c:v>
                </c:pt>
                <c:pt idx="10">
                  <c:v>60598.737951287978</c:v>
                </c:pt>
                <c:pt idx="11">
                  <c:v>41197.586174720782</c:v>
                </c:pt>
                <c:pt idx="12">
                  <c:v>33512.502870593991</c:v>
                </c:pt>
                <c:pt idx="13">
                  <c:v>28599.756239621027</c:v>
                </c:pt>
                <c:pt idx="14">
                  <c:v>23921.190106991005</c:v>
                </c:pt>
              </c:numCache>
            </c:numRef>
          </c:val>
          <c:smooth val="0"/>
          <c:extLst>
            <c:ext xmlns:c16="http://schemas.microsoft.com/office/drawing/2014/chart" uri="{C3380CC4-5D6E-409C-BE32-E72D297353CC}">
              <c16:uniqueId val="{00000001-36D2-4902-9243-2AA5EA3B2D30}"/>
            </c:ext>
          </c:extLst>
        </c:ser>
        <c:dLbls>
          <c:showLegendKey val="0"/>
          <c:showVal val="0"/>
          <c:showCatName val="0"/>
          <c:showSerName val="0"/>
          <c:showPercent val="0"/>
          <c:showBubbleSize val="0"/>
        </c:dLbls>
        <c:smooth val="0"/>
        <c:axId val="614138751"/>
        <c:axId val="606371743"/>
      </c:lineChart>
      <c:catAx>
        <c:axId val="614138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6371743"/>
        <c:crosses val="autoZero"/>
        <c:auto val="1"/>
        <c:lblAlgn val="ctr"/>
        <c:lblOffset val="100"/>
        <c:noMultiLvlLbl val="0"/>
      </c:catAx>
      <c:valAx>
        <c:axId val="6063717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413875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2">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alpha val="54000"/>
          </a:schemeClr>
        </a:solidFill>
        <a:round/>
      </a:ln>
    </cs:spPr>
  </cs:gridlineMajor>
  <cs:gridlineMinor>
    <cs:lnRef idx="0"/>
    <cs:fillRef idx="0"/>
    <cs:effectRef idx="0"/>
    <cs:fontRef idx="minor">
      <a:schemeClr val="dk1"/>
    </cs:fontRef>
    <cs:spPr>
      <a:ln w="9525" cap="flat" cmpd="sng" algn="ctr">
        <a:solidFill>
          <a:schemeClr val="dk1">
            <a:lumMod val="15000"/>
            <a:lumOff val="85000"/>
            <a:alpha val="51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xml><?xml version="1.0" encoding="utf-8"?>
<cs:chartStyle xmlns:cs="http://schemas.microsoft.com/office/drawing/2012/chartStyle" xmlns:a="http://schemas.openxmlformats.org/drawingml/2006/main" id="325">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75000"/>
            <a:lumOff val="25000"/>
          </a:schemeClr>
        </a:solidFill>
      </a:ln>
    </cs:spPr>
  </cs:downBar>
  <cs:dropLine>
    <cs:lnRef idx="0"/>
    <cs:fillRef idx="0"/>
    <cs:effectRef idx="0"/>
    <cs:fontRef idx="minor">
      <a:schemeClr val="dk1"/>
    </cs:fontRef>
    <cs:spPr>
      <a:ln w="9525">
        <a:solidFill>
          <a:schemeClr val="tx1">
            <a:lumMod val="75000"/>
            <a:lumOff val="25000"/>
          </a:schemeClr>
        </a:solidFill>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75000"/>
            <a:lumOff val="2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D1BDB9-DAFF-4E58-9ABE-753E47826316}"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92A069-6D51-4900-9777-B9B4BE71A74C}" type="slidenum">
              <a:rPr lang="en-IN" smtClean="0"/>
              <a:t>‹#›</a:t>
            </a:fld>
            <a:endParaRPr lang="en-IN"/>
          </a:p>
        </p:txBody>
      </p:sp>
    </p:spTree>
    <p:extLst>
      <p:ext uri="{BB962C8B-B14F-4D97-AF65-F5344CB8AC3E}">
        <p14:creationId xmlns:p14="http://schemas.microsoft.com/office/powerpoint/2010/main" val="1293369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92A069-6D51-4900-9777-B9B4BE71A74C}" type="slidenum">
              <a:rPr lang="en-IN" smtClean="0"/>
              <a:t>2</a:t>
            </a:fld>
            <a:endParaRPr lang="en-IN"/>
          </a:p>
        </p:txBody>
      </p:sp>
    </p:spTree>
    <p:extLst>
      <p:ext uri="{BB962C8B-B14F-4D97-AF65-F5344CB8AC3E}">
        <p14:creationId xmlns:p14="http://schemas.microsoft.com/office/powerpoint/2010/main" val="3305202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CF92A069-6D51-4900-9777-B9B4BE71A74C}" type="slidenum">
              <a:rPr lang="en-IN" smtClean="0"/>
              <a:t>3</a:t>
            </a:fld>
            <a:endParaRPr lang="en-IN"/>
          </a:p>
        </p:txBody>
      </p:sp>
    </p:spTree>
    <p:extLst>
      <p:ext uri="{BB962C8B-B14F-4D97-AF65-F5344CB8AC3E}">
        <p14:creationId xmlns:p14="http://schemas.microsoft.com/office/powerpoint/2010/main" val="3809399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graph alongside shows the active card count and YoY growth of major credit card issuers in India.</a:t>
            </a:r>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HHI =</a:t>
            </a:r>
            <a:br>
              <a:rPr lang="it-IT" dirty="0"/>
            </a:br>
            <a:r>
              <a:rPr lang="it-IT" dirty="0"/>
              <a:t>22² + 19² + 17² + 14² + 5² + 4² + 3² + 3² + 1² + 13²</a:t>
            </a:r>
            <a:br>
              <a:rPr lang="it-IT" dirty="0"/>
            </a:br>
            <a:r>
              <a:rPr lang="it-IT" dirty="0"/>
              <a:t>= 484 + 361 + 289 + 196 + 25 + 16 + 9 + 9 + 1 + 169</a:t>
            </a:r>
            <a:br>
              <a:rPr lang="it-IT" dirty="0"/>
            </a:br>
            <a:r>
              <a:rPr lang="it-IT" dirty="0"/>
              <a:t>= </a:t>
            </a:r>
            <a:r>
              <a:rPr lang="it-IT" b="1" dirty="0"/>
              <a:t>1,559</a:t>
            </a:r>
            <a:endParaRPr lang="it-IT" dirty="0"/>
          </a:p>
          <a:p>
            <a:endParaRPr lang="en-IN" dirty="0"/>
          </a:p>
          <a:p>
            <a:endParaRPr lang="en-IN" dirty="0"/>
          </a:p>
        </p:txBody>
      </p:sp>
      <p:sp>
        <p:nvSpPr>
          <p:cNvPr id="4" name="Slide Number Placeholder 3"/>
          <p:cNvSpPr>
            <a:spLocks noGrp="1"/>
          </p:cNvSpPr>
          <p:nvPr>
            <p:ph type="sldNum" sz="quarter" idx="5"/>
          </p:nvPr>
        </p:nvSpPr>
        <p:spPr/>
        <p:txBody>
          <a:bodyPr/>
          <a:lstStyle/>
          <a:p>
            <a:fld id="{CF92A069-6D51-4900-9777-B9B4BE71A74C}" type="slidenum">
              <a:rPr lang="en-IN" smtClean="0"/>
              <a:t>8</a:t>
            </a:fld>
            <a:endParaRPr lang="en-IN"/>
          </a:p>
        </p:txBody>
      </p:sp>
    </p:spTree>
    <p:extLst>
      <p:ext uri="{BB962C8B-B14F-4D97-AF65-F5344CB8AC3E}">
        <p14:creationId xmlns:p14="http://schemas.microsoft.com/office/powerpoint/2010/main" val="659930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solidFill>
                  <a:schemeClr val="tx1"/>
                </a:solidFill>
                <a:latin typeface="Century Schoolbook" panose="02040604050505020304" pitchFamily="18" charset="0"/>
              </a:rPr>
              <a:t>Since 2019, the widespread adoption of UPI along with the growth in e-commerce "online shopping" fuelled by credit cards have led to a fall in debit card usage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Century Schoolbook" panose="02040604050505020304" pitchFamily="18" charset="0"/>
              </a:rPr>
              <a:t>Debit card </a:t>
            </a:r>
            <a:r>
              <a:rPr lang="en-US" sz="1200" dirty="0" err="1">
                <a:solidFill>
                  <a:schemeClr val="tx1"/>
                </a:solidFill>
                <a:latin typeface="Century Schoolbook" panose="02040604050505020304" pitchFamily="18" charset="0"/>
              </a:rPr>
              <a:t>PoS</a:t>
            </a:r>
            <a:r>
              <a:rPr lang="en-US" sz="1200" dirty="0">
                <a:solidFill>
                  <a:schemeClr val="tx1"/>
                </a:solidFill>
                <a:latin typeface="Century Schoolbook" panose="02040604050505020304" pitchFamily="18" charset="0"/>
              </a:rPr>
              <a:t> growth was driven by formalization &amp; acceptance expansion (pre-2019); post-2019 decline reflects pandemic impact and migration of low-value payments to UPI and changing merchant/consumer preferences.</a:t>
            </a:r>
            <a:endParaRPr lang="en-GB" sz="1200" dirty="0">
              <a:solidFill>
                <a:schemeClr val="tx1"/>
              </a:solidFill>
              <a:latin typeface="Century Schoolbook" panose="02040604050505020304" pitchFamily="18" charset="0"/>
            </a:endParaRPr>
          </a:p>
          <a:p>
            <a:endParaRPr lang="en-IN" dirty="0"/>
          </a:p>
          <a:p>
            <a:r>
              <a:rPr lang="en-IN" dirty="0"/>
              <a:t>Last point: This is suggestive of the idea that the YoY growth in debit card transactions, experienced a structural shift in following 2020, consistent with the onset of the COVID pandemic and the concurrent acceleration of UPI-based payments.</a:t>
            </a:r>
          </a:p>
        </p:txBody>
      </p:sp>
      <p:sp>
        <p:nvSpPr>
          <p:cNvPr id="4" name="Slide Number Placeholder 3"/>
          <p:cNvSpPr>
            <a:spLocks noGrp="1"/>
          </p:cNvSpPr>
          <p:nvPr>
            <p:ph type="sldNum" sz="quarter" idx="5"/>
          </p:nvPr>
        </p:nvSpPr>
        <p:spPr/>
        <p:txBody>
          <a:bodyPr/>
          <a:lstStyle/>
          <a:p>
            <a:fld id="{CF92A069-6D51-4900-9777-B9B4BE71A74C}" type="slidenum">
              <a:rPr lang="en-IN" smtClean="0"/>
              <a:t>10</a:t>
            </a:fld>
            <a:endParaRPr lang="en-IN"/>
          </a:p>
        </p:txBody>
      </p:sp>
    </p:spTree>
    <p:extLst>
      <p:ext uri="{BB962C8B-B14F-4D97-AF65-F5344CB8AC3E}">
        <p14:creationId xmlns:p14="http://schemas.microsoft.com/office/powerpoint/2010/main" val="3710670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E325DF-951C-4380-ABC6-E506B420A5B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3CF02-F665-4DB2-94D1-6BA611659B4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811857"/>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E325DF-951C-4380-ABC6-E506B420A5B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3328023318"/>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E325DF-951C-4380-ABC6-E506B420A5B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3CF02-F665-4DB2-94D1-6BA611659B4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06208"/>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E325DF-951C-4380-ABC6-E506B420A5B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2386068506"/>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E325DF-951C-4380-ABC6-E506B420A5B9}"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2052261816"/>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E325DF-951C-4380-ABC6-E506B420A5B9}"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3511341458"/>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EE325DF-951C-4380-ABC6-E506B420A5B9}" type="datetimeFigureOut">
              <a:rPr lang="en-IN" smtClean="0"/>
              <a:t>03-11-2025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1733283299"/>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EE325DF-951C-4380-ABC6-E506B420A5B9}" type="datetimeFigureOut">
              <a:rPr lang="en-IN" smtClean="0"/>
              <a:t>03-11-2025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3CF02-F665-4DB2-94D1-6BA611659B4E}" type="slidenum">
              <a:rPr lang="en-IN" smtClean="0"/>
              <a:t>‹#›</a:t>
            </a:fld>
            <a:endParaRPr lang="en-IN"/>
          </a:p>
        </p:txBody>
      </p:sp>
    </p:spTree>
    <p:extLst>
      <p:ext uri="{BB962C8B-B14F-4D97-AF65-F5344CB8AC3E}">
        <p14:creationId xmlns:p14="http://schemas.microsoft.com/office/powerpoint/2010/main" val="4098499388"/>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EE325DF-951C-4380-ABC6-E506B420A5B9}"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4128403289"/>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E325DF-951C-4380-ABC6-E506B420A5B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2161007472"/>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E325DF-951C-4380-ABC6-E506B420A5B9}"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3CF02-F665-4DB2-94D1-6BA611659B4E}" type="slidenum">
              <a:rPr lang="en-IN" smtClean="0"/>
              <a:t>‹#›</a:t>
            </a:fld>
            <a:endParaRPr lang="en-IN"/>
          </a:p>
        </p:txBody>
      </p:sp>
    </p:spTree>
    <p:extLst>
      <p:ext uri="{BB962C8B-B14F-4D97-AF65-F5344CB8AC3E}">
        <p14:creationId xmlns:p14="http://schemas.microsoft.com/office/powerpoint/2010/main" val="2909731968"/>
      </p:ext>
    </p:extLst>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EE325DF-951C-4380-ABC6-E506B420A5B9}" type="datetimeFigureOut">
              <a:rPr lang="en-IN" smtClean="0"/>
              <a:t>03-11-2025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2E3CF02-F665-4DB2-94D1-6BA611659B4E}"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4206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ll/>
  </p:transition>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8B0-F638-4270-A61A-05C29C71967A}"/>
              </a:ext>
            </a:extLst>
          </p:cNvPr>
          <p:cNvSpPr>
            <a:spLocks noGrp="1"/>
          </p:cNvSpPr>
          <p:nvPr>
            <p:ph type="ctrTitle"/>
          </p:nvPr>
        </p:nvSpPr>
        <p:spPr/>
        <p:txBody>
          <a:bodyPr>
            <a:noAutofit/>
          </a:bodyPr>
          <a:lstStyle/>
          <a:p>
            <a:r>
              <a:rPr lang="en-GB" sz="4000" dirty="0">
                <a:latin typeface="Baskerville Old Face" panose="02020602080505020303" pitchFamily="18" charset="0"/>
              </a:rPr>
              <a:t>The Evolution of India's Credit Card</a:t>
            </a:r>
            <a:br>
              <a:rPr lang="en-GB" sz="4000" dirty="0">
                <a:latin typeface="Baskerville Old Face" panose="02020602080505020303" pitchFamily="18" charset="0"/>
              </a:rPr>
            </a:br>
            <a:r>
              <a:rPr lang="en-GB" sz="4000" dirty="0">
                <a:latin typeface="Baskerville Old Face" panose="02020602080505020303" pitchFamily="18" charset="0"/>
              </a:rPr>
              <a:t>Ecosystem: Usage Patterns and Market</a:t>
            </a:r>
            <a:br>
              <a:rPr lang="en-GB" sz="4000" dirty="0">
                <a:latin typeface="Baskerville Old Face" panose="02020602080505020303" pitchFamily="18" charset="0"/>
              </a:rPr>
            </a:br>
            <a:r>
              <a:rPr lang="en-GB" sz="4000" dirty="0">
                <a:latin typeface="Baskerville Old Face" panose="02020602080505020303" pitchFamily="18" charset="0"/>
              </a:rPr>
              <a:t>Structure</a:t>
            </a:r>
            <a:endParaRPr lang="en-IN" sz="4000" dirty="0">
              <a:latin typeface="Baskerville Old Face" panose="02020602080505020303" pitchFamily="18" charset="0"/>
            </a:endParaRPr>
          </a:p>
        </p:txBody>
      </p:sp>
      <p:sp>
        <p:nvSpPr>
          <p:cNvPr id="3" name="Subtitle 2">
            <a:extLst>
              <a:ext uri="{FF2B5EF4-FFF2-40B4-BE49-F238E27FC236}">
                <a16:creationId xmlns:a16="http://schemas.microsoft.com/office/drawing/2014/main" id="{138339B9-58BF-420A-918D-BAC1EECE60E6}"/>
              </a:ext>
            </a:extLst>
          </p:cNvPr>
          <p:cNvSpPr>
            <a:spLocks noGrp="1"/>
          </p:cNvSpPr>
          <p:nvPr>
            <p:ph type="subTitle" idx="1"/>
          </p:nvPr>
        </p:nvSpPr>
        <p:spPr/>
        <p:txBody>
          <a:bodyPr>
            <a:normAutofit/>
          </a:bodyPr>
          <a:lstStyle/>
          <a:p>
            <a:pPr algn="r"/>
            <a:r>
              <a:rPr lang="en-GB" sz="1600" dirty="0">
                <a:latin typeface="Century Schoolbook" panose="02040604050505020304" pitchFamily="18" charset="0"/>
              </a:rPr>
              <a:t>Sanway Sen and Aryaa Banerjee</a:t>
            </a:r>
          </a:p>
          <a:p>
            <a:pPr algn="r"/>
            <a:r>
              <a:rPr lang="en-GB" sz="1600" dirty="0">
                <a:latin typeface="Century Schoolbook" panose="02040604050505020304" pitchFamily="18" charset="0"/>
              </a:rPr>
              <a:t>PG-1st Semester</a:t>
            </a:r>
          </a:p>
        </p:txBody>
      </p:sp>
    </p:spTree>
    <p:extLst>
      <p:ext uri="{BB962C8B-B14F-4D97-AF65-F5344CB8AC3E}">
        <p14:creationId xmlns:p14="http://schemas.microsoft.com/office/powerpoint/2010/main" val="1545537146"/>
      </p:ext>
    </p:extLst>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26199"/>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Introduction</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334691" y="1329919"/>
            <a:ext cx="11306323" cy="5101882"/>
          </a:xfrm>
          <a:ln>
            <a:noFill/>
          </a:ln>
        </p:spPr>
        <p:txBody>
          <a:bodyPr>
            <a:normAutofit/>
          </a:bodyPr>
          <a:lstStyle/>
          <a:p>
            <a:pPr>
              <a:lnSpc>
                <a:spcPct val="100000"/>
              </a:lnSpc>
              <a:buFont typeface="Arial" panose="020B0604020202020204" pitchFamily="34" charset="0"/>
              <a:buChar char="•"/>
            </a:pPr>
            <a:r>
              <a:rPr lang="en-US" sz="1800" dirty="0">
                <a:solidFill>
                  <a:schemeClr val="tx1"/>
                </a:solidFill>
              </a:rPr>
              <a:t> </a:t>
            </a:r>
            <a:r>
              <a:rPr lang="en-US" sz="1800" dirty="0">
                <a:solidFill>
                  <a:schemeClr val="tx1"/>
                </a:solidFill>
                <a:latin typeface="Century Schoolbook" panose="02040604050505020304" pitchFamily="18" charset="0"/>
              </a:rPr>
              <a:t>In the post-independence decades, formal credit systems expanded through public-sector banks to promote financial inclusion and rural development. </a:t>
            </a:r>
          </a:p>
          <a:p>
            <a:pPr>
              <a:lnSpc>
                <a:spcPct val="100000"/>
              </a:lnSpc>
              <a:buFont typeface="Arial" panose="020B0604020202020204" pitchFamily="34" charset="0"/>
              <a:buChar char="•"/>
            </a:pPr>
            <a:r>
              <a:rPr lang="en-US" sz="1800" dirty="0">
                <a:solidFill>
                  <a:schemeClr val="tx1"/>
                </a:solidFill>
                <a:latin typeface="Century Schoolbook" panose="02040604050505020304" pitchFamily="18" charset="0"/>
              </a:rPr>
              <a:t> The nationalization of major banks in 1969 marked a pivotal step toward democratizing access to credit facilities, while the 1980s and 1990s ushered in an era of liberalized markets that encouraged consumer credit growth.</a:t>
            </a:r>
            <a:endParaRPr lang="en-GB" sz="1800" dirty="0">
              <a:solidFill>
                <a:schemeClr val="tx1"/>
              </a:solidFill>
              <a:latin typeface="Century Schoolbook" panose="02040604050505020304" pitchFamily="18" charset="0"/>
            </a:endParaRPr>
          </a:p>
          <a:p>
            <a:pPr>
              <a:lnSpc>
                <a:spcPct val="100000"/>
              </a:lnSpc>
              <a:buFont typeface="Arial" panose="020B0604020202020204" pitchFamily="34" charset="0"/>
              <a:buChar char="•"/>
            </a:pPr>
            <a:r>
              <a:rPr lang="en-US" sz="1800" dirty="0">
                <a:solidFill>
                  <a:schemeClr val="tx1"/>
                </a:solidFill>
                <a:latin typeface="Century Schoolbook" panose="02040604050505020304" pitchFamily="18" charset="0"/>
              </a:rPr>
              <a:t> Since 2000, credit card adoption in India has surged from a niche luxury product into a mainstream financial tool, underpinned by economic liberalization, fintech innovation, and the shift toward digital payments.</a:t>
            </a:r>
          </a:p>
          <a:p>
            <a:pPr>
              <a:lnSpc>
                <a:spcPct val="100000"/>
              </a:lnSpc>
              <a:buFont typeface="Arial" panose="020B0604020202020204" pitchFamily="34" charset="0"/>
              <a:buChar char="•"/>
            </a:pPr>
            <a:r>
              <a:rPr lang="en-US" sz="1800" dirty="0">
                <a:solidFill>
                  <a:schemeClr val="tx1"/>
                </a:solidFill>
                <a:latin typeface="Century Schoolbook" panose="02040604050505020304" pitchFamily="18" charset="0"/>
              </a:rPr>
              <a:t> India's payments industry underwent a revolutionary shift post 2014, primarily due to the JAM: Jan Dhan, Aadhaar, and Mobile. </a:t>
            </a:r>
          </a:p>
          <a:p>
            <a:pPr>
              <a:lnSpc>
                <a:spcPct val="100000"/>
              </a:lnSpc>
              <a:buFont typeface="Arial" panose="020B0604020202020204" pitchFamily="34" charset="0"/>
              <a:buChar char="•"/>
            </a:pPr>
            <a:r>
              <a:rPr lang="en-US" sz="1800" dirty="0">
                <a:solidFill>
                  <a:schemeClr val="tx1"/>
                </a:solidFill>
                <a:latin typeface="Century Schoolbook" panose="02040604050505020304" pitchFamily="18" charset="0"/>
              </a:rPr>
              <a:t>This Financial Inclusion campaign by the Government of India initiated in 2014, brought a massive number of people into the formal banking system. Gradually, the introduction of mobile-app based real-time payment system-UPI  emerged as India's leading payment platform.</a:t>
            </a:r>
          </a:p>
          <a:p>
            <a:pPr>
              <a:lnSpc>
                <a:spcPct val="100000"/>
              </a:lnSpc>
              <a:buFont typeface="Arial" panose="020B0604020202020204" pitchFamily="34" charset="0"/>
              <a:buChar char="•"/>
            </a:pPr>
            <a:r>
              <a:rPr lang="en-US" sz="1800" dirty="0">
                <a:solidFill>
                  <a:schemeClr val="tx1"/>
                </a:solidFill>
                <a:latin typeface="Century Schoolbook" panose="02040604050505020304" pitchFamily="18" charset="0"/>
              </a:rPr>
              <a:t> Amidst all these India's credit card market has experienced significant growth in recent years, with over 111.6 million cards in circulation and growing adoption among urban consumers.  </a:t>
            </a:r>
            <a:endParaRPr lang="en-GB" sz="1800" dirty="0">
              <a:latin typeface="Century Schoolbook" panose="02040604050505020304" pitchFamily="18" charset="0"/>
            </a:endParaRPr>
          </a:p>
        </p:txBody>
      </p:sp>
    </p:spTree>
    <p:extLst>
      <p:ext uri="{BB962C8B-B14F-4D97-AF65-F5344CB8AC3E}">
        <p14:creationId xmlns:p14="http://schemas.microsoft.com/office/powerpoint/2010/main" val="1729457587"/>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26199"/>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Research Question</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464820" y="1470596"/>
            <a:ext cx="10815710" cy="4855698"/>
          </a:xfrm>
          <a:ln>
            <a:noFill/>
          </a:ln>
        </p:spPr>
        <p:txBody>
          <a:bodyPr>
            <a:normAutofit/>
          </a:bodyPr>
          <a:lstStyle/>
          <a:p>
            <a:pPr>
              <a:lnSpc>
                <a:spcPct val="100000"/>
              </a:lnSpc>
              <a:buFont typeface="Arial" panose="020B0604020202020204" pitchFamily="34" charset="0"/>
              <a:buChar char="•"/>
            </a:pPr>
            <a:r>
              <a:rPr lang="en-GB" sz="1800" b="0" i="0" u="none" strike="noStrike" baseline="0" dirty="0">
                <a:latin typeface="Century Schoolbook" panose="02040604050505020304" pitchFamily="18" charset="0"/>
              </a:rPr>
              <a:t> </a:t>
            </a:r>
            <a:r>
              <a:rPr lang="en-GB" sz="1800" b="0" i="0" u="none" strike="noStrike" baseline="0" dirty="0">
                <a:solidFill>
                  <a:schemeClr val="tx1"/>
                </a:solidFill>
                <a:latin typeface="Century Schoolbook" panose="02040604050505020304" pitchFamily="18" charset="0"/>
              </a:rPr>
              <a:t>The paper seeks to look into the changing consumer behaviour in recent times in light of expanding credit markets in a developing country like India. </a:t>
            </a:r>
          </a:p>
          <a:p>
            <a:pPr>
              <a:lnSpc>
                <a:spcPct val="100000"/>
              </a:lnSpc>
              <a:buFont typeface="Arial" panose="020B0604020202020204" pitchFamily="34" charset="0"/>
              <a:buChar char="•"/>
            </a:pPr>
            <a:r>
              <a:rPr lang="en-GB" sz="1800" b="0" i="0" u="none" strike="noStrike" baseline="0" dirty="0">
                <a:solidFill>
                  <a:schemeClr val="tx1"/>
                </a:solidFill>
                <a:latin typeface="Century Schoolbook" panose="02040604050505020304" pitchFamily="18" charset="0"/>
              </a:rPr>
              <a:t> This study explores three primary questions:</a:t>
            </a:r>
          </a:p>
          <a:p>
            <a:pPr lvl="3">
              <a:lnSpc>
                <a:spcPct val="100000"/>
              </a:lnSpc>
              <a:buFont typeface="Arial" panose="020B0604020202020204" pitchFamily="34" charset="0"/>
              <a:buChar char="•"/>
            </a:pPr>
            <a:r>
              <a:rPr lang="en-GB" sz="1800" b="0" i="0" u="none" strike="noStrike" baseline="0" dirty="0">
                <a:solidFill>
                  <a:schemeClr val="tx1"/>
                </a:solidFill>
                <a:latin typeface="Century Schoolbook" panose="02040604050505020304" pitchFamily="18" charset="0"/>
              </a:rPr>
              <a:t>What are the patterns of credit card usage over the years in India?</a:t>
            </a:r>
          </a:p>
          <a:p>
            <a:pPr lvl="3">
              <a:lnSpc>
                <a:spcPct val="100000"/>
              </a:lnSpc>
              <a:buFont typeface="Arial" panose="020B0604020202020204" pitchFamily="34" charset="0"/>
              <a:buChar char="•"/>
            </a:pPr>
            <a:r>
              <a:rPr lang="en-GB" sz="1800" b="0" i="0" u="none" strike="noStrike" baseline="0" dirty="0">
                <a:solidFill>
                  <a:schemeClr val="tx1"/>
                </a:solidFill>
                <a:latin typeface="Century Schoolbook" panose="02040604050505020304" pitchFamily="18" charset="0"/>
              </a:rPr>
              <a:t>What insights can we draw from the comparison of Credit Card and Debit Card expenditure?</a:t>
            </a:r>
          </a:p>
          <a:p>
            <a:pPr lvl="3">
              <a:lnSpc>
                <a:spcPct val="100000"/>
              </a:lnSpc>
              <a:buFont typeface="Arial" panose="020B0604020202020204" pitchFamily="34" charset="0"/>
              <a:buChar char="•"/>
            </a:pPr>
            <a:r>
              <a:rPr lang="en-GB" sz="1800" b="0" i="0" u="none" strike="noStrike" baseline="0" dirty="0">
                <a:solidFill>
                  <a:schemeClr val="tx1"/>
                </a:solidFill>
                <a:latin typeface="Century Schoolbook" panose="02040604050505020304" pitchFamily="18" charset="0"/>
              </a:rPr>
              <a:t>Who are the major card issuers, and how do they compete for market share?</a:t>
            </a:r>
            <a:endParaRPr lang="en-GB" sz="1800" dirty="0">
              <a:solidFill>
                <a:schemeClr val="tx1"/>
              </a:solidFill>
              <a:latin typeface="Century Schoolbook" panose="02040604050505020304" pitchFamily="18" charset="0"/>
            </a:endParaRPr>
          </a:p>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To answer these questions, we have used publicly available data from RBI and NPCI, mostly using the monthly card statistics data available on the RBI website.</a:t>
            </a:r>
          </a:p>
          <a:p>
            <a:pPr>
              <a:lnSpc>
                <a:spcPct val="100000"/>
              </a:lnSpc>
              <a:buFont typeface="Arial" panose="020B0604020202020204" pitchFamily="34" charset="0"/>
              <a:buChar char="•"/>
            </a:pPr>
            <a:r>
              <a:rPr lang="en-GB" sz="1800" dirty="0">
                <a:latin typeface="Century Schoolbook" panose="02040604050505020304" pitchFamily="18" charset="0"/>
              </a:rPr>
              <a:t> </a:t>
            </a:r>
            <a:r>
              <a:rPr lang="en-US" sz="1800" dirty="0">
                <a:solidFill>
                  <a:schemeClr val="tx1"/>
                </a:solidFill>
                <a:latin typeface="Century Schoolbook" panose="02040604050505020304" pitchFamily="18" charset="0"/>
              </a:rPr>
              <a:t>A key constraint is the limited availability of detailed consumption data broken down by demographic segments and geographic regions, necessitating the use of transactional value and volume data only. </a:t>
            </a:r>
            <a:endParaRPr lang="en-GB" sz="1800"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145515654"/>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509264" y="412326"/>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Credit Card usage trends</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298249" y="1290580"/>
            <a:ext cx="6244885" cy="5344681"/>
          </a:xfrm>
          <a:ln>
            <a:noFill/>
          </a:ln>
        </p:spPr>
        <p:txBody>
          <a:bodyPr>
            <a:normAutofit/>
          </a:bodyPr>
          <a:lstStyle/>
          <a:p>
            <a:pPr>
              <a:lnSpc>
                <a:spcPct val="100000"/>
              </a:lnSpc>
              <a:buFont typeface="Arial" panose="020B0604020202020204" pitchFamily="34" charset="0"/>
              <a:buChar char="•"/>
            </a:pPr>
            <a:r>
              <a:rPr lang="en-IN" sz="1800" dirty="0">
                <a:solidFill>
                  <a:schemeClr val="tx1"/>
                </a:solidFill>
                <a:latin typeface="Century Schoolbook" panose="02040604050505020304" pitchFamily="18" charset="0"/>
              </a:rPr>
              <a:t>  There has been significant expansion in credit card usage throughout our study period (2011-2025).</a:t>
            </a:r>
          </a:p>
          <a:p>
            <a:pPr>
              <a:lnSpc>
                <a:spcPct val="100000"/>
              </a:lnSpc>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Post 2016, demonetization and the shift to “digital economy” led to a steep rise in the use of credit cards. </a:t>
            </a:r>
          </a:p>
          <a:p>
            <a:pPr>
              <a:lnSpc>
                <a:spcPct val="100000"/>
              </a:lnSpc>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The number of credit cards issued at the end of July 2024 was 11.16 crores, which was just around 1.76 crores in 2011. </a:t>
            </a:r>
          </a:p>
          <a:p>
            <a:pPr>
              <a:lnSpc>
                <a:spcPct val="100000"/>
              </a:lnSpc>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a:t>
            </a:r>
            <a:r>
              <a:rPr lang="en-US"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The growth rate of credit card usage has increased by 15% in terms of the number of transactions. In terms of the amount spent, credit cards have shown a robust increase of 24%. </a:t>
            </a:r>
          </a:p>
          <a:p>
            <a:pPr>
              <a:lnSpc>
                <a:spcPct val="100000"/>
              </a:lnSpc>
              <a:buFont typeface="Arial" panose="020B0604020202020204" pitchFamily="34" charset="0"/>
              <a:buChar char="•"/>
            </a:pPr>
            <a:r>
              <a:rPr lang="en-US"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These figures suggest a growing preference for credit cards among Indian consumers, both in terms of usage frequency and spending volume because high-value purchases are increasingly made via EMIs and structured credit options.</a:t>
            </a:r>
            <a:endParaRPr lang="en-IN" sz="1800" dirty="0">
              <a:solidFill>
                <a:schemeClr val="tx1"/>
              </a:solidFill>
              <a:latin typeface="Century Schoolbook" panose="02040604050505020304" pitchFamily="18" charset="0"/>
            </a:endParaRPr>
          </a:p>
        </p:txBody>
      </p:sp>
      <p:graphicFrame>
        <p:nvGraphicFramePr>
          <p:cNvPr id="5" name="Chart 4">
            <a:extLst>
              <a:ext uri="{FF2B5EF4-FFF2-40B4-BE49-F238E27FC236}">
                <a16:creationId xmlns:a16="http://schemas.microsoft.com/office/drawing/2014/main" id="{E9BF4D4F-F262-4FF6-9906-EF90324A490D}"/>
              </a:ext>
            </a:extLst>
          </p:cNvPr>
          <p:cNvGraphicFramePr>
            <a:graphicFrameLocks/>
          </p:cNvGraphicFramePr>
          <p:nvPr>
            <p:extLst>
              <p:ext uri="{D42A27DB-BD31-4B8C-83A1-F6EECF244321}">
                <p14:modId xmlns:p14="http://schemas.microsoft.com/office/powerpoint/2010/main" val="3589357536"/>
              </p:ext>
            </p:extLst>
          </p:nvPr>
        </p:nvGraphicFramePr>
        <p:xfrm>
          <a:off x="6856431" y="426199"/>
          <a:ext cx="503732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752AAC00-C701-4EE1-90B9-BC5469A9D90C}"/>
              </a:ext>
            </a:extLst>
          </p:cNvPr>
          <p:cNvGraphicFramePr>
            <a:graphicFrameLocks/>
          </p:cNvGraphicFramePr>
          <p:nvPr>
            <p:extLst>
              <p:ext uri="{D42A27DB-BD31-4B8C-83A1-F6EECF244321}">
                <p14:modId xmlns:p14="http://schemas.microsoft.com/office/powerpoint/2010/main" val="2433189377"/>
              </p:ext>
            </p:extLst>
          </p:nvPr>
        </p:nvGraphicFramePr>
        <p:xfrm>
          <a:off x="6856431" y="3364051"/>
          <a:ext cx="5080488" cy="3124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32357791"/>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378655" y="460613"/>
            <a:ext cx="10815711" cy="748454"/>
          </a:xfrm>
        </p:spPr>
        <p:txBody>
          <a:bodyPr>
            <a:normAutofit/>
          </a:bodyPr>
          <a:lstStyle/>
          <a:p>
            <a:r>
              <a:rPr lang="en-GB" sz="3600" b="1" dirty="0">
                <a:effectLst>
                  <a:outerShdw blurRad="38100" dist="38100" dir="2700000" algn="tl">
                    <a:srgbClr val="000000">
                      <a:alpha val="43137"/>
                    </a:srgbClr>
                  </a:outerShdw>
                </a:effectLst>
                <a:latin typeface="Baskerville Old Face" panose="02020602080505020303" pitchFamily="18" charset="0"/>
              </a:rPr>
              <a:t>Debit Card or Credit Card? </a:t>
            </a:r>
            <a:endParaRPr lang="en-IN" sz="36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241579" y="1388534"/>
            <a:ext cx="5717345" cy="4855698"/>
          </a:xfrm>
          <a:ln>
            <a:noFill/>
          </a:ln>
        </p:spPr>
        <p:txBody>
          <a:bodyPr>
            <a:normAutofit/>
          </a:bodyPr>
          <a:lstStyle/>
          <a:p>
            <a:pPr>
              <a:buFont typeface="Arial" panose="020B0604020202020204" pitchFamily="34" charset="0"/>
              <a:buChar char="•"/>
            </a:pPr>
            <a:r>
              <a:rPr lang="en-IN" sz="1800" dirty="0">
                <a:solidFill>
                  <a:schemeClr val="tx1"/>
                </a:solidFill>
                <a:latin typeface="Century Schoolbook" panose="02040604050505020304" pitchFamily="18" charset="0"/>
              </a:rPr>
              <a:t>Traditionally, Indian consumers were more inclined towards using debit cards, viewing debt as a “taboo”. </a:t>
            </a:r>
          </a:p>
          <a:p>
            <a:pPr>
              <a:buFont typeface="Arial" panose="020B0604020202020204" pitchFamily="34" charset="0"/>
              <a:buChar char="•"/>
            </a:pPr>
            <a:r>
              <a:rPr lang="en-IN" sz="1800" dirty="0">
                <a:solidFill>
                  <a:schemeClr val="tx1"/>
                </a:solidFill>
                <a:latin typeface="Century Schoolbook" panose="02040604050505020304" pitchFamily="18" charset="0"/>
              </a:rPr>
              <a:t> I</a:t>
            </a: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n April 2023, credit card transactions surpassed debit cards' volume, indicating a crucial moment in India's payment dynamics.</a:t>
            </a:r>
          </a:p>
          <a:p>
            <a:pPr>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By July 2025, credit card transactions volume reached 24.32 crore compared to 8.32 crore for debit cards, marking a significant reversal in consumer behaviour patterns.</a:t>
            </a:r>
          </a:p>
          <a:p>
            <a:pPr>
              <a:buFont typeface="Arial" panose="020B0604020202020204" pitchFamily="34" charset="0"/>
              <a:buChar char="•"/>
            </a:pPr>
            <a:r>
              <a:rPr lang="en-US"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This can be linked with the expansion of e-commerce platforms, which is widely growing as the first choice for consumers. It can be a major factor in credit card use as credit is an easy payment option. </a:t>
            </a:r>
          </a:p>
          <a:p>
            <a:pPr>
              <a:buFont typeface="Arial" panose="020B0604020202020204" pitchFamily="34" charset="0"/>
              <a:buChar char="•"/>
            </a:pPr>
            <a:r>
              <a:rPr lang="en-US"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This has also resulted in declining trend in the usage of debit cards at POS.</a:t>
            </a:r>
            <a:endPar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endParaRPr>
          </a:p>
        </p:txBody>
      </p:sp>
      <p:graphicFrame>
        <p:nvGraphicFramePr>
          <p:cNvPr id="6" name="Chart 5">
            <a:extLst>
              <a:ext uri="{FF2B5EF4-FFF2-40B4-BE49-F238E27FC236}">
                <a16:creationId xmlns:a16="http://schemas.microsoft.com/office/drawing/2014/main" id="{4B1C2D0F-F242-44A5-9429-2E0B84905296}"/>
              </a:ext>
            </a:extLst>
          </p:cNvPr>
          <p:cNvGraphicFramePr>
            <a:graphicFrameLocks/>
          </p:cNvGraphicFramePr>
          <p:nvPr>
            <p:extLst>
              <p:ext uri="{D42A27DB-BD31-4B8C-83A1-F6EECF244321}">
                <p14:modId xmlns:p14="http://schemas.microsoft.com/office/powerpoint/2010/main" val="8320901"/>
              </p:ext>
            </p:extLst>
          </p:nvPr>
        </p:nvGraphicFramePr>
        <p:xfrm>
          <a:off x="6377858" y="476127"/>
          <a:ext cx="5427785" cy="30808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96CFE7A6-9D22-4679-AACF-039E3CAD7FB0}"/>
              </a:ext>
            </a:extLst>
          </p:cNvPr>
          <p:cNvGraphicFramePr>
            <a:graphicFrameLocks/>
          </p:cNvGraphicFramePr>
          <p:nvPr>
            <p:extLst>
              <p:ext uri="{D42A27DB-BD31-4B8C-83A1-F6EECF244321}">
                <p14:modId xmlns:p14="http://schemas.microsoft.com/office/powerpoint/2010/main" val="2551619411"/>
              </p:ext>
            </p:extLst>
          </p:nvPr>
        </p:nvGraphicFramePr>
        <p:xfrm>
          <a:off x="6377858" y="3696900"/>
          <a:ext cx="5427785" cy="25473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11451191"/>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378655" y="460613"/>
            <a:ext cx="10815711" cy="748454"/>
          </a:xfrm>
        </p:spPr>
        <p:txBody>
          <a:bodyPr>
            <a:normAutofit/>
          </a:bodyPr>
          <a:lstStyle/>
          <a:p>
            <a:r>
              <a:rPr lang="en-GB" sz="3600" b="1" dirty="0">
                <a:effectLst>
                  <a:outerShdw blurRad="38100" dist="38100" dir="2700000" algn="tl">
                    <a:srgbClr val="000000">
                      <a:alpha val="43137"/>
                    </a:srgbClr>
                  </a:outerShdw>
                </a:effectLst>
                <a:latin typeface="Baskerville Old Face" panose="02020602080505020303" pitchFamily="18" charset="0"/>
              </a:rPr>
              <a:t>Debit Card or Credit Card? </a:t>
            </a:r>
            <a:endParaRPr lang="en-IN" sz="36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241579" y="1388534"/>
            <a:ext cx="5717345" cy="4855698"/>
          </a:xfrm>
          <a:ln>
            <a:noFill/>
          </a:ln>
        </p:spPr>
        <p:txBody>
          <a:bodyPr>
            <a:normAutofit/>
          </a:bodyPr>
          <a:lstStyle/>
          <a:p>
            <a:pPr>
              <a:lnSpc>
                <a:spcPct val="100000"/>
              </a:lnSpc>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In comparison of credit cards with debit cards, </a:t>
            </a:r>
            <a:r>
              <a:rPr lang="en-US"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it is evident from the figure that the value of Credit card transactions are always more than debit card transactions.</a:t>
            </a:r>
          </a:p>
          <a:p>
            <a:pPr>
              <a:lnSpc>
                <a:spcPct val="100000"/>
              </a:lnSpc>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This justifies people’s preference of credit cards for purchasing high value and luxury items on credit.</a:t>
            </a:r>
          </a:p>
          <a:p>
            <a:pPr>
              <a:lnSpc>
                <a:spcPct val="100000"/>
              </a:lnSpc>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a:t>
            </a:r>
            <a:r>
              <a:rPr lang="en-US"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Although most users (50%) rely more on debit cards, credit cards account for a higher total transaction value, meaning fewer people make larger purchases with credit cards.</a:t>
            </a:r>
          </a:p>
          <a:p>
            <a:pPr>
              <a:lnSpc>
                <a:spcPct val="100000"/>
              </a:lnSpc>
              <a:buFont typeface="Arial" panose="020B0604020202020204" pitchFamily="34" charset="0"/>
              <a:buChar char="•"/>
            </a:pPr>
            <a:r>
              <a:rPr lang="en-US"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This highlights the low credit card penetration in a country like India, where credit card users are mostly based in Tier-1 and Tier-2 cities.</a:t>
            </a:r>
            <a:endPar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endParaRPr>
          </a:p>
        </p:txBody>
      </p:sp>
      <p:graphicFrame>
        <p:nvGraphicFramePr>
          <p:cNvPr id="8" name="Chart 7">
            <a:extLst>
              <a:ext uri="{FF2B5EF4-FFF2-40B4-BE49-F238E27FC236}">
                <a16:creationId xmlns:a16="http://schemas.microsoft.com/office/drawing/2014/main" id="{E6E4D3B3-D4F2-40A2-9C43-68167528029D}"/>
              </a:ext>
            </a:extLst>
          </p:cNvPr>
          <p:cNvGraphicFramePr>
            <a:graphicFrameLocks/>
          </p:cNvGraphicFramePr>
          <p:nvPr>
            <p:extLst>
              <p:ext uri="{D42A27DB-BD31-4B8C-83A1-F6EECF244321}">
                <p14:modId xmlns:p14="http://schemas.microsoft.com/office/powerpoint/2010/main" val="2031115505"/>
              </p:ext>
            </p:extLst>
          </p:nvPr>
        </p:nvGraphicFramePr>
        <p:xfrm>
          <a:off x="6402852" y="566120"/>
          <a:ext cx="5307455" cy="3445423"/>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a:extLst>
              <a:ext uri="{FF2B5EF4-FFF2-40B4-BE49-F238E27FC236}">
                <a16:creationId xmlns:a16="http://schemas.microsoft.com/office/drawing/2014/main" id="{B029D06A-7AAB-4A0B-8154-A33E9F629D7B}"/>
              </a:ext>
            </a:extLst>
          </p:cNvPr>
          <p:cNvPicPr>
            <a:picLocks noChangeAspect="1"/>
          </p:cNvPicPr>
          <p:nvPr/>
        </p:nvPicPr>
        <p:blipFill>
          <a:blip r:embed="rId3"/>
          <a:stretch>
            <a:fillRect/>
          </a:stretch>
        </p:blipFill>
        <p:spPr>
          <a:xfrm>
            <a:off x="6233078" y="4265144"/>
            <a:ext cx="5810572" cy="2132243"/>
          </a:xfrm>
          <a:prstGeom prst="rect">
            <a:avLst/>
          </a:prstGeom>
        </p:spPr>
      </p:pic>
    </p:spTree>
    <p:extLst>
      <p:ext uri="{BB962C8B-B14F-4D97-AF65-F5344CB8AC3E}">
        <p14:creationId xmlns:p14="http://schemas.microsoft.com/office/powerpoint/2010/main" val="3775853978"/>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07346"/>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E-commerce and Co-branded Credit Cards</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495885" y="1464082"/>
            <a:ext cx="5502345" cy="4986571"/>
          </a:xfrm>
          <a:ln>
            <a:noFill/>
          </a:ln>
        </p:spPr>
        <p:txBody>
          <a:bodyPr>
            <a:normAutofit/>
          </a:bodyPr>
          <a:lstStyle/>
          <a:p>
            <a:pPr>
              <a:buFont typeface="Arial" panose="020B0604020202020204" pitchFamily="34" charset="0"/>
              <a:buChar char="•"/>
            </a:pPr>
            <a:r>
              <a:rPr lang="en-IN" sz="1800" dirty="0">
                <a:solidFill>
                  <a:schemeClr val="tx1"/>
                </a:solidFill>
                <a:latin typeface="Century Schoolbook" panose="02040604050505020304" pitchFamily="18" charset="0"/>
              </a:rPr>
              <a:t> The recent surge in credit card usage also links to the advent of e-commerce facilities and the growing simplicity of easy consumer loans.</a:t>
            </a:r>
          </a:p>
          <a:p>
            <a:pPr>
              <a:buFont typeface="Arial" panose="020B0604020202020204" pitchFamily="34" charset="0"/>
              <a:buChar char="•"/>
            </a:pPr>
            <a:r>
              <a:rPr lang="en-IN" sz="1800" dirty="0">
                <a:solidFill>
                  <a:schemeClr val="tx1"/>
                </a:solidFill>
                <a:latin typeface="Century Schoolbook" panose="02040604050505020304" pitchFamily="18" charset="0"/>
              </a:rPr>
              <a:t> With limited data available, we see that Credit Card spending have been always preferred to Debit Card because of the benefits and reward programs associated with it.</a:t>
            </a:r>
          </a:p>
          <a:p>
            <a:pPr>
              <a:buFont typeface="Arial" panose="020B0604020202020204" pitchFamily="34" charset="0"/>
              <a:buChar char="•"/>
            </a:pPr>
            <a:r>
              <a:rPr lang="en-IN" sz="1800" dirty="0">
                <a:solidFill>
                  <a:schemeClr val="tx1"/>
                </a:solidFill>
                <a:latin typeface="Century Schoolbook" panose="02040604050505020304" pitchFamily="18" charset="0"/>
              </a:rPr>
              <a:t> Further the introduction of co-branded credit cards like the ‘Amazon ICICI Bank Credit Card’ or the ‘Flipkart Axis Bank Credit Card’ seeks to ensure consumer loyalty by extending easy consumer loan options like No-Cost EMIs.</a:t>
            </a:r>
          </a:p>
          <a:p>
            <a:pPr>
              <a:buFont typeface="Arial" panose="020B0604020202020204" pitchFamily="34" charset="0"/>
              <a:buChar char="•"/>
            </a:pPr>
            <a:r>
              <a:rPr lang="en-IN" sz="1800" dirty="0">
                <a:solidFill>
                  <a:schemeClr val="tx1"/>
                </a:solidFill>
                <a:latin typeface="Century Schoolbook" panose="02040604050505020304" pitchFamily="18" charset="0"/>
              </a:rPr>
              <a:t> Additionally, users are drawn to the functionality,  convenience and security features of credit cards which d</a:t>
            </a:r>
            <a:r>
              <a:rPr lang="en-US" sz="1800" dirty="0">
                <a:solidFill>
                  <a:schemeClr val="tx1"/>
                </a:solidFill>
                <a:latin typeface="Century Schoolbook" panose="02040604050505020304" pitchFamily="18" charset="0"/>
              </a:rPr>
              <a:t>rive their widespread acceptance in India’s rapidly digitizing economy.</a:t>
            </a:r>
            <a:endParaRPr lang="en-IN" sz="1800" dirty="0">
              <a:solidFill>
                <a:schemeClr val="tx1"/>
              </a:solidFill>
              <a:latin typeface="Century Schoolbook" panose="02040604050505020304" pitchFamily="18" charset="0"/>
            </a:endParaRPr>
          </a:p>
        </p:txBody>
      </p:sp>
      <p:graphicFrame>
        <p:nvGraphicFramePr>
          <p:cNvPr id="4" name="Chart 3">
            <a:extLst>
              <a:ext uri="{FF2B5EF4-FFF2-40B4-BE49-F238E27FC236}">
                <a16:creationId xmlns:a16="http://schemas.microsoft.com/office/drawing/2014/main" id="{D1CC64B9-EC84-4A88-B1EE-EDA35147CB51}"/>
              </a:ext>
            </a:extLst>
          </p:cNvPr>
          <p:cNvGraphicFramePr>
            <a:graphicFrameLocks/>
          </p:cNvGraphicFramePr>
          <p:nvPr>
            <p:extLst>
              <p:ext uri="{D42A27DB-BD31-4B8C-83A1-F6EECF244321}">
                <p14:modId xmlns:p14="http://schemas.microsoft.com/office/powerpoint/2010/main" val="4116359030"/>
              </p:ext>
            </p:extLst>
          </p:nvPr>
        </p:nvGraphicFramePr>
        <p:xfrm>
          <a:off x="6193771" y="1464083"/>
          <a:ext cx="5759417" cy="35886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85223498"/>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26199"/>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Structure of Credit Card Market</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495885" y="1545636"/>
            <a:ext cx="6107724" cy="4855698"/>
          </a:xfrm>
          <a:ln>
            <a:noFill/>
          </a:ln>
        </p:spPr>
        <p:txBody>
          <a:bodyPr>
            <a:normAutofit/>
          </a:bodyPr>
          <a:lstStyle/>
          <a:p>
            <a:pPr>
              <a:buFont typeface="Arial" panose="020B0604020202020204" pitchFamily="34" charset="0"/>
              <a:buChar char="•"/>
            </a:pPr>
            <a:r>
              <a:rPr lang="en-IN" sz="1800" dirty="0">
                <a:solidFill>
                  <a:schemeClr val="tx1"/>
                </a:solidFill>
                <a:latin typeface="Century Schoolbook" panose="02040604050505020304" pitchFamily="18" charset="0"/>
                <a:ea typeface="Calibri" panose="020F0502020204030204" pitchFamily="34" charset="0"/>
                <a:cs typeface="Vrinda" panose="020B0502040204020203" pitchFamily="34" charset="0"/>
              </a:rPr>
              <a:t> </a:t>
            </a:r>
            <a:r>
              <a:rPr lang="en-US" sz="1800" dirty="0">
                <a:solidFill>
                  <a:schemeClr val="tx1"/>
                </a:solidFill>
                <a:latin typeface="Century Schoolbook" panose="02040604050505020304" pitchFamily="18" charset="0"/>
              </a:rPr>
              <a:t>India’s credit-card market is led by HDFC, SBI, ICICI, and Axis — together steering industry growth through digital innovation, co-branding, and expanding urban demand.</a:t>
            </a:r>
            <a:endParaRPr lang="en-IN" sz="1800" dirty="0">
              <a:solidFill>
                <a:schemeClr val="tx1"/>
              </a:solidFill>
              <a:latin typeface="Century Schoolbook" panose="02040604050505020304" pitchFamily="18" charset="0"/>
            </a:endParaRPr>
          </a:p>
          <a:p>
            <a:pPr>
              <a:buFont typeface="Arial" panose="020B0604020202020204" pitchFamily="34" charset="0"/>
              <a:buChar char="•"/>
            </a:pPr>
            <a:r>
              <a:rPr lang="en-US" sz="1800" dirty="0">
                <a:solidFill>
                  <a:schemeClr val="tx1"/>
                </a:solidFill>
                <a:latin typeface="Century Schoolbook" panose="02040604050505020304" pitchFamily="18" charset="0"/>
              </a:rPr>
              <a:t> The Credit Card market continues double-digit expansion driven by urban consumption and digital payments.</a:t>
            </a:r>
          </a:p>
          <a:p>
            <a:pPr>
              <a:buFont typeface="Arial" panose="020B0604020202020204" pitchFamily="34" charset="0"/>
              <a:buChar char="•"/>
            </a:pPr>
            <a:r>
              <a:rPr lang="en-IN" sz="1800" dirty="0">
                <a:solidFill>
                  <a:schemeClr val="tx1"/>
                </a:solidFill>
                <a:latin typeface="Century Schoolbook" panose="02040604050505020304" pitchFamily="18" charset="0"/>
              </a:rPr>
              <a:t> </a:t>
            </a:r>
            <a:r>
              <a:rPr lang="en-US" sz="1800" dirty="0">
                <a:solidFill>
                  <a:schemeClr val="tx1"/>
                </a:solidFill>
                <a:latin typeface="Century Schoolbook" panose="02040604050505020304" pitchFamily="18" charset="0"/>
              </a:rPr>
              <a:t>Digital onboarding, fintech tie-ups, UPI-linked credit-cards are emerging features which lead private sector banks to capture a major portion of the credit card market.</a:t>
            </a:r>
          </a:p>
          <a:p>
            <a:pPr>
              <a:buFont typeface="Arial" panose="020B0604020202020204" pitchFamily="34" charset="0"/>
              <a:buChar char="•"/>
            </a:pPr>
            <a:r>
              <a:rPr lang="en-US" sz="1800" dirty="0">
                <a:solidFill>
                  <a:schemeClr val="tx1"/>
                </a:solidFill>
                <a:latin typeface="Century Schoolbook" panose="02040604050505020304" pitchFamily="18" charset="0"/>
              </a:rPr>
              <a:t>The year-on-year growth also shows aggressive expansion of the credit market. </a:t>
            </a:r>
            <a:endParaRPr lang="en-IN" sz="1800" dirty="0">
              <a:solidFill>
                <a:schemeClr val="tx1"/>
              </a:solidFill>
              <a:latin typeface="Century Schoolbook" panose="02040604050505020304" pitchFamily="18" charset="0"/>
            </a:endParaRPr>
          </a:p>
        </p:txBody>
      </p:sp>
      <p:pic>
        <p:nvPicPr>
          <p:cNvPr id="6" name="Picture 5">
            <a:extLst>
              <a:ext uri="{FF2B5EF4-FFF2-40B4-BE49-F238E27FC236}">
                <a16:creationId xmlns:a16="http://schemas.microsoft.com/office/drawing/2014/main" id="{CBE56671-778B-4166-9638-B7148300554E}"/>
              </a:ext>
            </a:extLst>
          </p:cNvPr>
          <p:cNvPicPr>
            <a:picLocks noChangeAspect="1"/>
          </p:cNvPicPr>
          <p:nvPr/>
        </p:nvPicPr>
        <p:blipFill>
          <a:blip r:embed="rId3"/>
          <a:stretch>
            <a:fillRect/>
          </a:stretch>
        </p:blipFill>
        <p:spPr>
          <a:xfrm>
            <a:off x="7107654" y="1545636"/>
            <a:ext cx="4350124" cy="3441143"/>
          </a:xfrm>
          <a:prstGeom prst="rect">
            <a:avLst/>
          </a:prstGeom>
        </p:spPr>
      </p:pic>
      <p:sp>
        <p:nvSpPr>
          <p:cNvPr id="4" name="TextBox 3">
            <a:extLst>
              <a:ext uri="{FF2B5EF4-FFF2-40B4-BE49-F238E27FC236}">
                <a16:creationId xmlns:a16="http://schemas.microsoft.com/office/drawing/2014/main" id="{58E18205-098A-4983-816F-14E22F1B8829}"/>
              </a:ext>
            </a:extLst>
          </p:cNvPr>
          <p:cNvSpPr txBox="1"/>
          <p:nvPr/>
        </p:nvSpPr>
        <p:spPr>
          <a:xfrm>
            <a:off x="9308123" y="4991250"/>
            <a:ext cx="2149655" cy="307777"/>
          </a:xfrm>
          <a:prstGeom prst="rect">
            <a:avLst/>
          </a:prstGeom>
          <a:noFill/>
        </p:spPr>
        <p:txBody>
          <a:bodyPr wrap="square" rtlCol="0">
            <a:spAutoFit/>
          </a:bodyPr>
          <a:lstStyle/>
          <a:p>
            <a:r>
              <a:rPr lang="en-IN" sz="1400" dirty="0"/>
              <a:t>Data from economic times</a:t>
            </a:r>
          </a:p>
        </p:txBody>
      </p:sp>
    </p:spTree>
    <p:extLst>
      <p:ext uri="{BB962C8B-B14F-4D97-AF65-F5344CB8AC3E}">
        <p14:creationId xmlns:p14="http://schemas.microsoft.com/office/powerpoint/2010/main" val="662551130"/>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26199"/>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Forecasts</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495885" y="1576103"/>
            <a:ext cx="5729069" cy="4855698"/>
          </a:xfrm>
          <a:ln>
            <a:noFill/>
          </a:ln>
        </p:spPr>
        <p:txBody>
          <a:bodyPr>
            <a:normAutofit/>
          </a:bodyPr>
          <a:lstStyle/>
          <a:p>
            <a:pPr>
              <a:lnSpc>
                <a:spcPct val="100000"/>
              </a:lnSpc>
              <a:buFont typeface="Arial" panose="020B0604020202020204" pitchFamily="34" charset="0"/>
              <a:buChar char="•"/>
            </a:pPr>
            <a:r>
              <a:rPr lang="en-GB" sz="1800" dirty="0">
                <a:latin typeface="Century Schoolbook" panose="02040604050505020304" pitchFamily="18" charset="0"/>
              </a:rPr>
              <a:t> </a:t>
            </a:r>
            <a:r>
              <a:rPr lang="en-GB" sz="1800" dirty="0">
                <a:solidFill>
                  <a:schemeClr val="tx1"/>
                </a:solidFill>
                <a:latin typeface="Century Schoolbook" panose="02040604050505020304" pitchFamily="18" charset="0"/>
              </a:rPr>
              <a:t>The number of Credit Cards issued is predicted to rise to 16.3 crores in 2030, up from 11.16 crores in 2025.</a:t>
            </a:r>
          </a:p>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This rise in usage can be justified by the innovations and aggressive competition between Credit Card companies, which makes it easier to access credit cards.</a:t>
            </a:r>
          </a:p>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Total value of credit card transactions is also projected to rise to  91340.62 crores in 2030 from 70380.31 crores in 2025, an increase of approximately 30%.</a:t>
            </a:r>
          </a:p>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As more and more luxury goods offer Easy Monthly Instalments (EMIs) through credit cards, the value of transactions is likely to increase in line with forecasted values.</a:t>
            </a:r>
          </a:p>
          <a:p>
            <a:pPr>
              <a:lnSpc>
                <a:spcPct val="100000"/>
              </a:lnSpc>
              <a:buFont typeface="Arial" panose="020B0604020202020204" pitchFamily="34" charset="0"/>
              <a:buChar char="•"/>
            </a:pPr>
            <a:endParaRPr lang="en-IN" sz="1800" dirty="0">
              <a:latin typeface="Century Schoolbook" panose="02040604050505020304" pitchFamily="18" charset="0"/>
            </a:endParaRPr>
          </a:p>
        </p:txBody>
      </p:sp>
      <p:pic>
        <p:nvPicPr>
          <p:cNvPr id="5" name="Picture 4">
            <a:extLst>
              <a:ext uri="{FF2B5EF4-FFF2-40B4-BE49-F238E27FC236}">
                <a16:creationId xmlns:a16="http://schemas.microsoft.com/office/drawing/2014/main" id="{27634D49-11C1-4D68-8321-7DA6EAC4F15C}"/>
              </a:ext>
            </a:extLst>
          </p:cNvPr>
          <p:cNvPicPr/>
          <p:nvPr/>
        </p:nvPicPr>
        <p:blipFill rotWithShape="1">
          <a:blip r:embed="rId2">
            <a:extLst>
              <a:ext uri="{28A0092B-C50C-407E-A947-70E740481C1C}">
                <a14:useLocalDpi xmlns:a14="http://schemas.microsoft.com/office/drawing/2010/main" val="0"/>
              </a:ext>
            </a:extLst>
          </a:blip>
          <a:srcRect r="15458" b="16250"/>
          <a:stretch/>
        </p:blipFill>
        <p:spPr bwMode="auto">
          <a:xfrm>
            <a:off x="7558696" y="356410"/>
            <a:ext cx="4035351" cy="2858130"/>
          </a:xfrm>
          <a:prstGeom prst="rect">
            <a:avLst/>
          </a:prstGeom>
          <a:noFill/>
          <a:ln>
            <a:noFill/>
          </a:ln>
        </p:spPr>
      </p:pic>
      <p:pic>
        <p:nvPicPr>
          <p:cNvPr id="7" name="Picture 6">
            <a:extLst>
              <a:ext uri="{FF2B5EF4-FFF2-40B4-BE49-F238E27FC236}">
                <a16:creationId xmlns:a16="http://schemas.microsoft.com/office/drawing/2014/main" id="{927A78E4-A21C-4697-B3F7-933023A9AE2D}"/>
              </a:ext>
            </a:extLst>
          </p:cNvPr>
          <p:cNvPicPr/>
          <p:nvPr/>
        </p:nvPicPr>
        <p:blipFill>
          <a:blip r:embed="rId3"/>
          <a:stretch>
            <a:fillRect/>
          </a:stretch>
        </p:blipFill>
        <p:spPr>
          <a:xfrm>
            <a:off x="7410280" y="3495884"/>
            <a:ext cx="4183767" cy="3005706"/>
          </a:xfrm>
          <a:prstGeom prst="rect">
            <a:avLst/>
          </a:prstGeom>
        </p:spPr>
      </p:pic>
    </p:spTree>
    <p:extLst>
      <p:ext uri="{BB962C8B-B14F-4D97-AF65-F5344CB8AC3E}">
        <p14:creationId xmlns:p14="http://schemas.microsoft.com/office/powerpoint/2010/main" val="155981481"/>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26199"/>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Findings</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495885" y="1576103"/>
            <a:ext cx="5377378" cy="4855698"/>
          </a:xfrm>
          <a:ln>
            <a:noFill/>
          </a:ln>
        </p:spPr>
        <p:txBody>
          <a:bodyPr/>
          <a:lstStyle/>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With the expansion of the credit market and the introduction of UPI as a hassle-free method of payments, along with the growth in e-commerce fuelled by credit cards, we find that there has been a shift in the debit card usage pattern.</a:t>
            </a:r>
          </a:p>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We notice a 8.4% annualised reduction in debit card usage volume since 2019 as is shown by the graph.</a:t>
            </a:r>
          </a:p>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A Chow Test was run on this data to examine whether the growth pattern exhibited a structural change in 2020. </a:t>
            </a:r>
          </a:p>
          <a:p>
            <a:pPr>
              <a:lnSpc>
                <a:spcPct val="100000"/>
              </a:lnSpc>
              <a:buFont typeface="Arial" panose="020B0604020202020204" pitchFamily="34" charset="0"/>
              <a:buChar char="•"/>
            </a:pPr>
            <a:r>
              <a:rPr lang="en-GB" sz="1800" dirty="0">
                <a:solidFill>
                  <a:schemeClr val="tx1"/>
                </a:solidFill>
                <a:latin typeface="Century Schoolbook" panose="02040604050505020304" pitchFamily="18" charset="0"/>
              </a:rPr>
              <a:t> The test yielded F=5.09, p-value=0.0299, indicating a statistically significant break.</a:t>
            </a:r>
          </a:p>
          <a:p>
            <a:endParaRPr lang="en-IN" dirty="0">
              <a:solidFill>
                <a:schemeClr val="tx1"/>
              </a:solidFill>
              <a:latin typeface="Century Schoolbook" panose="02040604050505020304" pitchFamily="18" charset="0"/>
            </a:endParaRPr>
          </a:p>
        </p:txBody>
      </p:sp>
      <p:graphicFrame>
        <p:nvGraphicFramePr>
          <p:cNvPr id="4" name="Chart 3">
            <a:extLst>
              <a:ext uri="{FF2B5EF4-FFF2-40B4-BE49-F238E27FC236}">
                <a16:creationId xmlns:a16="http://schemas.microsoft.com/office/drawing/2014/main" id="{2E5A1846-E567-4360-8A63-2508E88421B4}"/>
              </a:ext>
            </a:extLst>
          </p:cNvPr>
          <p:cNvGraphicFramePr>
            <a:graphicFrameLocks/>
          </p:cNvGraphicFramePr>
          <p:nvPr>
            <p:extLst>
              <p:ext uri="{D42A27DB-BD31-4B8C-83A1-F6EECF244321}">
                <p14:modId xmlns:p14="http://schemas.microsoft.com/office/powerpoint/2010/main" val="2711452248"/>
              </p:ext>
            </p:extLst>
          </p:nvPr>
        </p:nvGraphicFramePr>
        <p:xfrm>
          <a:off x="6490326" y="586613"/>
          <a:ext cx="5377378" cy="30592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EFE5F9EF-FD0D-4E92-AB22-1A34218FCEA8}"/>
              </a:ext>
            </a:extLst>
          </p:cNvPr>
          <p:cNvGraphicFramePr>
            <a:graphicFrameLocks/>
          </p:cNvGraphicFramePr>
          <p:nvPr>
            <p:extLst>
              <p:ext uri="{D42A27DB-BD31-4B8C-83A1-F6EECF244321}">
                <p14:modId xmlns:p14="http://schemas.microsoft.com/office/powerpoint/2010/main" val="3221036487"/>
              </p:ext>
            </p:extLst>
          </p:nvPr>
        </p:nvGraphicFramePr>
        <p:xfrm>
          <a:off x="6490327" y="3806291"/>
          <a:ext cx="5377378" cy="284069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14652042"/>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26199"/>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Policy Implications</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495884" y="1576103"/>
            <a:ext cx="11074793" cy="4855698"/>
          </a:xfrm>
          <a:ln>
            <a:noFill/>
          </a:ln>
        </p:spPr>
        <p:txBody>
          <a:bodyPr>
            <a:normAutofit/>
          </a:bodyPr>
          <a:lstStyle/>
          <a:p>
            <a:pPr>
              <a:buFont typeface="Arial" panose="020B0604020202020204" pitchFamily="34" charset="0"/>
              <a:buChar char="•"/>
            </a:pPr>
            <a:r>
              <a:rPr lang="en-GB" sz="1800" dirty="0">
                <a:latin typeface="Century Schoolbook" panose="02040604050505020304" pitchFamily="18" charset="0"/>
              </a:rPr>
              <a:t> </a:t>
            </a:r>
            <a:r>
              <a:rPr lang="en-IN" sz="1800" dirty="0">
                <a:latin typeface="Century Schoolbook" panose="02040604050505020304" pitchFamily="18" charset="0"/>
              </a:rPr>
              <a:t>This surge in credit card growth over the recent years give rise to serious policy implications. Through this paper, we aim to highlight a few which seemed most concerning:</a:t>
            </a:r>
          </a:p>
          <a:p>
            <a:pPr>
              <a:buFont typeface="Arial" panose="020B0604020202020204" pitchFamily="34" charset="0"/>
              <a:buChar char="•"/>
            </a:pPr>
            <a:r>
              <a:rPr lang="en-US" sz="1800" b="1" dirty="0">
                <a:latin typeface="Century Schoolbook" panose="02040604050505020304" pitchFamily="18" charset="0"/>
              </a:rPr>
              <a:t> Debt-resolution &amp; recovery frameworks: </a:t>
            </a:r>
            <a:r>
              <a:rPr lang="en-US" sz="1800" dirty="0">
                <a:latin typeface="Century Schoolbook" panose="02040604050505020304" pitchFamily="18" charset="0"/>
              </a:rPr>
              <a:t>With growing unsecured exposures, regulators should ensure effective, fair restructuring frameworks and strengthen credit-counselling/insolvency support for over-indebted consumers.</a:t>
            </a:r>
          </a:p>
          <a:p>
            <a:pPr>
              <a:buFont typeface="Arial" panose="020B0604020202020204" pitchFamily="34" charset="0"/>
              <a:buChar char="•"/>
            </a:pPr>
            <a:r>
              <a:rPr lang="en-US" sz="1800" b="1" dirty="0">
                <a:latin typeface="Century Schoolbook" panose="02040604050505020304" pitchFamily="18" charset="0"/>
              </a:rPr>
              <a:t> Competition &amp; market structure: </a:t>
            </a:r>
            <a:r>
              <a:rPr lang="en-US" sz="1800" dirty="0">
                <a:latin typeface="Century Schoolbook" panose="02040604050505020304" pitchFamily="18" charset="0"/>
              </a:rPr>
              <a:t>Oligopolistic concentration (top private banks dominating) risks reduced competitive pressure on fees/rewards. Regulator should monitor interchange, co-brand exclusivity clauses, and facilitate entry of new issuers/platforms.</a:t>
            </a:r>
          </a:p>
          <a:p>
            <a:pPr>
              <a:buFont typeface="Arial" panose="020B0604020202020204" pitchFamily="34" charset="0"/>
              <a:buChar char="•"/>
            </a:pPr>
            <a:r>
              <a:rPr lang="en-US" sz="1800" b="1" dirty="0">
                <a:latin typeface="Century Schoolbook" panose="02040604050505020304" pitchFamily="18" charset="0"/>
              </a:rPr>
              <a:t> Consumer protection &amp; disclosure: </a:t>
            </a:r>
            <a:r>
              <a:rPr lang="en-US" sz="1800" dirty="0">
                <a:latin typeface="Century Schoolbook" panose="02040604050505020304" pitchFamily="18" charset="0"/>
              </a:rPr>
              <a:t>Surge in credit usage increases the need for clear, standardized disclosure of interest rates, fees, EMI terms and late-fee mechanics.</a:t>
            </a:r>
          </a:p>
          <a:p>
            <a:pPr>
              <a:buFont typeface="Arial" panose="020B0604020202020204" pitchFamily="34" charset="0"/>
              <a:buChar char="•"/>
            </a:pPr>
            <a:r>
              <a:rPr lang="en-US" sz="1800" b="1" dirty="0">
                <a:latin typeface="Century Schoolbook" panose="02040604050505020304" pitchFamily="18" charset="0"/>
              </a:rPr>
              <a:t> Financial inclusion trade-offs: </a:t>
            </a:r>
            <a:r>
              <a:rPr lang="en-US" sz="1800" dirty="0">
                <a:latin typeface="Century Schoolbook" panose="02040604050505020304" pitchFamily="18" charset="0"/>
              </a:rPr>
              <a:t>Credit growth is concentrated in urban tiers; targeted policies are needed for responsible rural credit expansion to avoid exclusion or predatory offers.</a:t>
            </a:r>
          </a:p>
          <a:p>
            <a:pPr>
              <a:buFont typeface="Arial" panose="020B0604020202020204" pitchFamily="34" charset="0"/>
              <a:buChar char="•"/>
            </a:pPr>
            <a:r>
              <a:rPr lang="en-GB" sz="1800" b="1" dirty="0">
                <a:latin typeface="Century Schoolbook" panose="02040604050505020304" pitchFamily="18" charset="0"/>
              </a:rPr>
              <a:t>Policy coordination: </a:t>
            </a:r>
            <a:r>
              <a:rPr lang="en-US" sz="1800" dirty="0">
                <a:latin typeface="Century Schoolbook" panose="02040604050505020304" pitchFamily="18" charset="0"/>
              </a:rPr>
              <a:t>Explicit guidelines for credit card schemes like buy-now-pay-later and co-branded EMI products (disclosures, caps, reporting) to prevent regulatory arbitrage.</a:t>
            </a:r>
            <a:endParaRPr lang="en-GB" sz="1800" dirty="0">
              <a:latin typeface="Century Schoolbook" panose="02040604050505020304" pitchFamily="18" charset="0"/>
            </a:endParaRPr>
          </a:p>
        </p:txBody>
      </p:sp>
    </p:spTree>
    <p:extLst>
      <p:ext uri="{BB962C8B-B14F-4D97-AF65-F5344CB8AC3E}">
        <p14:creationId xmlns:p14="http://schemas.microsoft.com/office/powerpoint/2010/main" val="1767297919"/>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14924-CE92-4F5B-9F98-0D52B3C08A44}"/>
              </a:ext>
            </a:extLst>
          </p:cNvPr>
          <p:cNvSpPr>
            <a:spLocks noGrp="1"/>
          </p:cNvSpPr>
          <p:nvPr>
            <p:ph type="title"/>
          </p:nvPr>
        </p:nvSpPr>
        <p:spPr>
          <a:xfrm>
            <a:off x="495885" y="426199"/>
            <a:ext cx="10815711" cy="748454"/>
          </a:xfrm>
        </p:spPr>
        <p:txBody>
          <a:bodyPr>
            <a:normAutofit/>
          </a:bodyPr>
          <a:lstStyle/>
          <a:p>
            <a:r>
              <a:rPr lang="en-GB" sz="4000" b="1" dirty="0">
                <a:effectLst>
                  <a:outerShdw blurRad="38100" dist="38100" dir="2700000" algn="tl">
                    <a:srgbClr val="000000">
                      <a:alpha val="43137"/>
                    </a:srgbClr>
                  </a:outerShdw>
                </a:effectLst>
                <a:latin typeface="Baskerville Old Face" panose="02020602080505020303" pitchFamily="18" charset="0"/>
              </a:rPr>
              <a:t>Conclusion</a:t>
            </a:r>
            <a:endParaRPr lang="en-IN" sz="4000" b="1" dirty="0">
              <a:effectLst>
                <a:outerShdw blurRad="38100" dist="38100" dir="2700000" algn="tl">
                  <a:srgbClr val="000000">
                    <a:alpha val="43137"/>
                  </a:srgbClr>
                </a:outerShdw>
              </a:effectLst>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1093C3C-2798-49D2-8DA4-B059C2897412}"/>
              </a:ext>
            </a:extLst>
          </p:cNvPr>
          <p:cNvSpPr>
            <a:spLocks noGrp="1"/>
          </p:cNvSpPr>
          <p:nvPr>
            <p:ph idx="1"/>
          </p:nvPr>
        </p:nvSpPr>
        <p:spPr>
          <a:xfrm>
            <a:off x="495884" y="1576103"/>
            <a:ext cx="11074793" cy="4855698"/>
          </a:xfrm>
          <a:ln>
            <a:noFill/>
          </a:ln>
        </p:spPr>
        <p:txBody>
          <a:bodyPr>
            <a:normAutofit/>
          </a:bodyPr>
          <a:lstStyle/>
          <a:p>
            <a:pPr>
              <a:buFont typeface="Arial" panose="020B0604020202020204" pitchFamily="34" charset="0"/>
              <a:buChar char="•"/>
            </a:pPr>
            <a:r>
              <a:rPr lang="en-GB" sz="1800" dirty="0">
                <a:latin typeface="Century Schoolbook" panose="02040604050505020304" pitchFamily="18" charset="0"/>
              </a:rPr>
              <a:t> From Central Bank of India’s first credit card in 1980 to today’s digital credit cards on UPI technology, the Indian credit card market has evolved leaps and bounds.</a:t>
            </a:r>
          </a:p>
          <a:p>
            <a:pPr>
              <a:buFont typeface="Arial" panose="020B0604020202020204" pitchFamily="34" charset="0"/>
              <a:buChar char="•"/>
            </a:pPr>
            <a:r>
              <a:rPr lang="en-GB" sz="1800" dirty="0">
                <a:latin typeface="Century Schoolbook" panose="02040604050505020304" pitchFamily="18" charset="0"/>
              </a:rPr>
              <a:t> </a:t>
            </a:r>
            <a:r>
              <a:rPr lang="en-US" sz="1800" dirty="0">
                <a:latin typeface="Century Schoolbook" panose="02040604050505020304" pitchFamily="18" charset="0"/>
              </a:rPr>
              <a:t>Across both online and physical retail transactions, consumers consistently exhibit higher average spending when using Credit cards compared to Debit cards, highlighting a clear preference for Credit cards in higher-value purchases.</a:t>
            </a:r>
            <a:endParaRPr lang="en-GB" sz="1800" dirty="0">
              <a:latin typeface="Century Schoolbook" panose="02040604050505020304" pitchFamily="18" charset="0"/>
            </a:endParaRPr>
          </a:p>
          <a:p>
            <a:pPr>
              <a:buFont typeface="Arial" panose="020B0604020202020204" pitchFamily="34" charset="0"/>
              <a:buChar char="•"/>
            </a:pPr>
            <a:r>
              <a:rPr lang="en-GB" sz="1800" dirty="0">
                <a:latin typeface="Century Schoolbook" panose="02040604050505020304" pitchFamily="18" charset="0"/>
              </a:rPr>
              <a:t> This leads to a question of whether easy consumer credit options really help in expanding the economy by boosting consumption or creates a credit bubble due to lack of adequate collaterals to back loans?</a:t>
            </a:r>
          </a:p>
          <a:p>
            <a:pPr>
              <a:buFont typeface="Arial" panose="020B0604020202020204" pitchFamily="34" charset="0"/>
              <a:buChar char="•"/>
            </a:pPr>
            <a:r>
              <a:rPr lang="en-GB" sz="1800" dirty="0">
                <a:latin typeface="Century Schoolbook" panose="02040604050505020304" pitchFamily="18" charset="0"/>
              </a:rPr>
              <a:t> The data and forecasts however fail to highlight a major section of the developing rural section of India, as credit card penetration is very low in the rural sector.  </a:t>
            </a:r>
          </a:p>
          <a:p>
            <a:pPr>
              <a:buFont typeface="Arial" panose="020B0604020202020204" pitchFamily="34" charset="0"/>
              <a:buChar char="•"/>
            </a:pPr>
            <a:r>
              <a:rPr lang="en-GB" sz="1800" dirty="0">
                <a:latin typeface="Century Schoolbook" panose="02040604050505020304" pitchFamily="18" charset="0"/>
              </a:rPr>
              <a:t> While in developed nations like the USA, people use credit cards extensively, the credit market in India is yet to reach a level where at least half of the population holds a credit card.</a:t>
            </a:r>
          </a:p>
          <a:p>
            <a:pPr>
              <a:buFont typeface="Arial" panose="020B0604020202020204" pitchFamily="34" charset="0"/>
              <a:buChar char="•"/>
            </a:pPr>
            <a:r>
              <a:rPr lang="en-GB" sz="1800" dirty="0">
                <a:latin typeface="Century Schoolbook" panose="02040604050505020304" pitchFamily="18" charset="0"/>
              </a:rPr>
              <a:t> However, the credit card market in India is expected to expand further, and with proper policy decisions and implementations of stricter norms, this growth can be made inclusive, thereby narrowing the inequality gap. </a:t>
            </a:r>
          </a:p>
        </p:txBody>
      </p:sp>
    </p:spTree>
    <p:extLst>
      <p:ext uri="{BB962C8B-B14F-4D97-AF65-F5344CB8AC3E}">
        <p14:creationId xmlns:p14="http://schemas.microsoft.com/office/powerpoint/2010/main" val="3510651449"/>
      </p:ext>
    </p:extLst>
  </p:cSld>
  <p:clrMapOvr>
    <a:masterClrMapping/>
  </p:clrMapOvr>
  <p:transition spd="slow">
    <p:pull/>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1392</TotalTime>
  <Words>1855</Words>
  <Application>Microsoft Office PowerPoint</Application>
  <PresentationFormat>Widescreen</PresentationFormat>
  <Paragraphs>88</Paragraphs>
  <Slides>12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Baskerville Old Face</vt:lpstr>
      <vt:lpstr>Calibri</vt:lpstr>
      <vt:lpstr>Calibri Light</vt:lpstr>
      <vt:lpstr>Century Schoolbook</vt:lpstr>
      <vt:lpstr>Vrinda</vt:lpstr>
      <vt:lpstr>Retrospect</vt:lpstr>
      <vt:lpstr>The Evolution of India's Credit Card Ecosystem: Usage Patterns and Market Structure</vt:lpstr>
      <vt:lpstr>Introduction</vt:lpstr>
      <vt:lpstr>Research Question</vt:lpstr>
      <vt:lpstr>Credit Card usage trends</vt:lpstr>
      <vt:lpstr>Debit Card or Credit Card? </vt:lpstr>
      <vt:lpstr>Debit Card or Credit Card? </vt:lpstr>
      <vt:lpstr>E-commerce and Co-branded Credit Cards</vt:lpstr>
      <vt:lpstr>Structure of Credit Card Market</vt:lpstr>
      <vt:lpstr>Forecasts</vt:lpstr>
      <vt:lpstr>Findings</vt:lpstr>
      <vt:lpstr>Policy Implications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Evolution of India's Credit Card Ecosystem: Usage Patterns and Market Structure</dc:title>
  <dc:creator>Sanway Sen</dc:creator>
  <cp:lastModifiedBy>ARYAA BANERJEE</cp:lastModifiedBy>
  <cp:revision>93</cp:revision>
  <dcterms:created xsi:type="dcterms:W3CDTF">2025-10-26T03:00:29Z</dcterms:created>
  <dcterms:modified xsi:type="dcterms:W3CDTF">2025-11-03T18:02:53Z</dcterms:modified>
</cp:coreProperties>
</file>